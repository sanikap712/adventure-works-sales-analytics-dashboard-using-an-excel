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0" r:id="rId3"/>
    <p:sldId id="269" r:id="rId4"/>
    <p:sldId id="257" r:id="rId5"/>
    <p:sldId id="258" r:id="rId6"/>
    <p:sldId id="259" r:id="rId7"/>
    <p:sldId id="260" r:id="rId8"/>
    <p:sldId id="271" r:id="rId9"/>
    <p:sldId id="261" r:id="rId10"/>
    <p:sldId id="262" r:id="rId11"/>
    <p:sldId id="263" r:id="rId12"/>
    <p:sldId id="268" r:id="rId13"/>
    <p:sldId id="272" r:id="rId14"/>
    <p:sldId id="264" r:id="rId15"/>
    <p:sldId id="265" r:id="rId16"/>
    <p:sldId id="266" r:id="rId17"/>
    <p:sldId id="26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505BEE7BAC3EEBE4/Desktop/data%20anylist/data%20anylist/Project/Adventure%20Works%20Excel%20Project.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pivotSource>
    <c:name>[Adventure Works Excel Project.xlsx]Month Wise Sales !PivotTable1</c:name>
    <c:fmtId val="20"/>
  </c:pivotSource>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tint val="100000"/>
                  <a:shade val="100000"/>
                  <a:satMod val="130000"/>
                </a:schemeClr>
              </a:gs>
              <a:gs pos="100000">
                <a:schemeClr val="accent1">
                  <a:tint val="50000"/>
                  <a:shade val="100000"/>
                  <a:satMod val="350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2.982975978916012E-2"/>
          <c:y val="0.15970212765957448"/>
          <c:w val="0.94188503101814691"/>
          <c:h val="0.62526051264868487"/>
        </c:manualLayout>
      </c:layout>
      <c:lineChart>
        <c:grouping val="standard"/>
        <c:varyColors val="0"/>
        <c:ser>
          <c:idx val="0"/>
          <c:order val="0"/>
          <c:tx>
            <c:strRef>
              <c:f>'Month Wise Sales '!$B$3</c:f>
              <c:strCache>
                <c:ptCount val="1"/>
                <c:pt idx="0">
                  <c:v>Total</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'Month Wise Sales '!$A$4:$A$16</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'Month Wise Sales '!$B$4:$B$16</c:f>
              <c:numCache>
                <c:formatCode>0.00,,"m"</c:formatCode>
                <c:ptCount val="12"/>
                <c:pt idx="0">
                  <c:v>1868572.6708999933</c:v>
                </c:pt>
                <c:pt idx="1">
                  <c:v>1744677.8305999939</c:v>
                </c:pt>
                <c:pt idx="2">
                  <c:v>1908589.0547999898</c:v>
                </c:pt>
                <c:pt idx="3">
                  <c:v>1948432.2302999953</c:v>
                </c:pt>
                <c:pt idx="4">
                  <c:v>2205152.2965000574</c:v>
                </c:pt>
                <c:pt idx="5">
                  <c:v>2936177.7442004676</c:v>
                </c:pt>
                <c:pt idx="6">
                  <c:v>2412980.5949001834</c:v>
                </c:pt>
                <c:pt idx="7">
                  <c:v>2689540.8765003327</c:v>
                </c:pt>
                <c:pt idx="8">
                  <c:v>2536756.6378002465</c:v>
                </c:pt>
                <c:pt idx="9">
                  <c:v>2916660.8978005117</c:v>
                </c:pt>
                <c:pt idx="10">
                  <c:v>2979421.3902004822</c:v>
                </c:pt>
                <c:pt idx="11">
                  <c:v>3211714.9962005578</c:v>
                </c:pt>
              </c:numCache>
            </c:numRef>
          </c:val>
          <c:smooth val="0"/>
          <c:extLst>
            <c:ext xmlns:c16="http://schemas.microsoft.com/office/drawing/2014/chart" uri="{C3380CC4-5D6E-409C-BE32-E72D297353CC}">
              <c16:uniqueId val="{00000000-C9C4-4DF1-9F15-8B7234737907}"/>
            </c:ext>
          </c:extLst>
        </c:ser>
        <c:dLbls>
          <c:showLegendKey val="0"/>
          <c:showVal val="0"/>
          <c:showCatName val="0"/>
          <c:showSerName val="0"/>
          <c:showPercent val="0"/>
          <c:showBubbleSize val="0"/>
        </c:dLbls>
        <c:marker val="1"/>
        <c:smooth val="0"/>
        <c:axId val="329874832"/>
        <c:axId val="329875792"/>
      </c:lineChart>
      <c:catAx>
        <c:axId val="329874832"/>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329875792"/>
        <c:crosses val="autoZero"/>
        <c:auto val="1"/>
        <c:lblAlgn val="ctr"/>
        <c:lblOffset val="100"/>
        <c:noMultiLvlLbl val="0"/>
      </c:catAx>
      <c:valAx>
        <c:axId val="329875792"/>
        <c:scaling>
          <c:orientation val="minMax"/>
        </c:scaling>
        <c:delete val="1"/>
        <c:axPos val="l"/>
        <c:majorGridlines>
          <c:spPr>
            <a:ln w="9525" cap="flat" cmpd="sng" algn="ctr">
              <a:solidFill>
                <a:schemeClr val="lt1">
                  <a:lumMod val="95000"/>
                  <a:alpha val="10000"/>
                </a:schemeClr>
              </a:solidFill>
              <a:round/>
            </a:ln>
            <a:effectLst/>
          </c:spPr>
        </c:majorGridlines>
        <c:numFmt formatCode="0.00,,&quot;m&quot;" sourceLinked="1"/>
        <c:majorTickMark val="none"/>
        <c:minorTickMark val="none"/>
        <c:tickLblPos val="nextTo"/>
        <c:crossAx val="3298748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099A99-9686-48B0-91B0-CCBA79D71C61}"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67E21D-3C58-4131-9F2F-1D2AD714FA80}" type="slidenum">
              <a:rPr lang="en-US" smtClean="0"/>
              <a:t>‹#›</a:t>
            </a:fld>
            <a:endParaRPr lang="en-US"/>
          </a:p>
        </p:txBody>
      </p:sp>
    </p:spTree>
    <p:extLst>
      <p:ext uri="{BB962C8B-B14F-4D97-AF65-F5344CB8AC3E}">
        <p14:creationId xmlns:p14="http://schemas.microsoft.com/office/powerpoint/2010/main" val="1167267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67E21D-3C58-4131-9F2F-1D2AD714FA80}" type="slidenum">
              <a:rPr lang="en-US" smtClean="0"/>
              <a:t>13</a:t>
            </a:fld>
            <a:endParaRPr lang="en-US"/>
          </a:p>
        </p:txBody>
      </p:sp>
    </p:spTree>
    <p:extLst>
      <p:ext uri="{BB962C8B-B14F-4D97-AF65-F5344CB8AC3E}">
        <p14:creationId xmlns:p14="http://schemas.microsoft.com/office/powerpoint/2010/main" val="3558344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27710" y="1056901"/>
            <a:ext cx="3936270" cy="584775"/>
          </a:xfrm>
          <a:prstGeom prst="rect">
            <a:avLst/>
          </a:prstGeom>
          <a:noFill/>
          <a:effectLst>
            <a:glow rad="101600">
              <a:schemeClr val="accent5">
                <a:satMod val="175000"/>
                <a:alpha val="40000"/>
              </a:schemeClr>
            </a:glow>
          </a:effectLst>
        </p:spPr>
        <p:txBody>
          <a:bodyPr wrap="none">
            <a:spAutoFit/>
          </a:bodyPr>
          <a:lstStyle/>
          <a:p>
            <a:pPr algn="l"/>
            <a:r>
              <a:rPr sz="3200" b="1" dirty="0">
                <a:solidFill>
                  <a:schemeClr val="accent1">
                    <a:lumMod val="20000"/>
                    <a:lumOff val="80000"/>
                  </a:schemeClr>
                </a:solidFill>
                <a:effectLst>
                  <a:outerShdw blurRad="38100" dist="38100" dir="2700000" algn="tl">
                    <a:srgbClr val="000000">
                      <a:alpha val="43137"/>
                    </a:srgbClr>
                  </a:outerShdw>
                </a:effectLst>
                <a:latin typeface="Aptos"/>
              </a:rPr>
              <a:t>ADVENTUREWORKS</a:t>
            </a:r>
          </a:p>
        </p:txBody>
      </p:sp>
      <p:sp>
        <p:nvSpPr>
          <p:cNvPr id="4" name="TextBox 3"/>
          <p:cNvSpPr txBox="1"/>
          <p:nvPr/>
        </p:nvSpPr>
        <p:spPr>
          <a:xfrm>
            <a:off x="1770560" y="2435090"/>
            <a:ext cx="8650573" cy="954107"/>
          </a:xfrm>
          <a:prstGeom prst="rect">
            <a:avLst/>
          </a:prstGeom>
          <a:noFill/>
        </p:spPr>
        <p:txBody>
          <a:bodyPr wrap="none">
            <a:spAutoFit/>
          </a:bodyPr>
          <a:lstStyle/>
          <a:p>
            <a:r>
              <a:rPr sz="3800" b="1" dirty="0">
                <a:solidFill>
                  <a:srgbClr val="FFFFFF"/>
                </a:solidFill>
                <a:latin typeface="Aptos"/>
              </a:rPr>
              <a:t>Sales Analysis &amp;</a:t>
            </a:r>
            <a:r>
              <a:rPr lang="en-US" sz="3800" b="1" dirty="0">
                <a:solidFill>
                  <a:srgbClr val="FFFFFF"/>
                </a:solidFill>
                <a:latin typeface="Aptos"/>
              </a:rPr>
              <a:t> Business Intelligence</a:t>
            </a:r>
            <a:br>
              <a:rPr dirty="0"/>
            </a:br>
            <a:endParaRPr dirty="0">
              <a:solidFill>
                <a:schemeClr val="bg1"/>
              </a:solidFill>
            </a:endParaRPr>
          </a:p>
        </p:txBody>
      </p:sp>
      <p:sp>
        <p:nvSpPr>
          <p:cNvPr id="5" name="TextBox 4"/>
          <p:cNvSpPr txBox="1"/>
          <p:nvPr/>
        </p:nvSpPr>
        <p:spPr>
          <a:xfrm>
            <a:off x="4219019" y="3410039"/>
            <a:ext cx="3753656" cy="384721"/>
          </a:xfrm>
          <a:prstGeom prst="rect">
            <a:avLst/>
          </a:prstGeom>
          <a:noFill/>
        </p:spPr>
        <p:txBody>
          <a:bodyPr wrap="none">
            <a:spAutoFit/>
          </a:bodyPr>
          <a:lstStyle/>
          <a:p>
            <a:r>
              <a:rPr sz="1900" b="0" dirty="0">
                <a:solidFill>
                  <a:srgbClr val="FFFFFF"/>
                </a:solidFill>
                <a:latin typeface="Aptos"/>
              </a:rPr>
              <a:t>Excel  •  Power BI  •  Tableau</a:t>
            </a:r>
            <a:r>
              <a:rPr lang="en-US" sz="1900" dirty="0">
                <a:solidFill>
                  <a:srgbClr val="FFFFFF"/>
                </a:solidFill>
                <a:latin typeface="Aptos"/>
              </a:rPr>
              <a:t> • SQL</a:t>
            </a:r>
            <a:endParaRPr sz="1900" b="0" dirty="0">
              <a:solidFill>
                <a:srgbClr val="FFFFFF"/>
              </a:solidFill>
              <a:latin typeface="Aptos"/>
            </a:endParaRPr>
          </a:p>
        </p:txBody>
      </p:sp>
      <p:sp>
        <p:nvSpPr>
          <p:cNvPr id="6" name="TextBox 5"/>
          <p:cNvSpPr txBox="1"/>
          <p:nvPr/>
        </p:nvSpPr>
        <p:spPr>
          <a:xfrm>
            <a:off x="4667790" y="4184822"/>
            <a:ext cx="6400800" cy="320040"/>
          </a:xfrm>
          <a:prstGeom prst="rect">
            <a:avLst/>
          </a:prstGeom>
          <a:noFill/>
        </p:spPr>
        <p:txBody>
          <a:bodyPr wrap="none">
            <a:spAutoFit/>
          </a:bodyPr>
          <a:lstStyle/>
          <a:p>
            <a:pPr algn="l"/>
            <a:r>
              <a:rPr sz="1500" b="0" dirty="0">
                <a:solidFill>
                  <a:srgbClr val="BECDDC"/>
                </a:solidFill>
                <a:latin typeface="Aptos"/>
              </a:rPr>
              <a:t>End-to-end Data Analytics Project</a:t>
            </a:r>
          </a:p>
        </p:txBody>
      </p:sp>
      <p:sp>
        <p:nvSpPr>
          <p:cNvPr id="9" name="TextBox 8">
            <a:extLst>
              <a:ext uri="{FF2B5EF4-FFF2-40B4-BE49-F238E27FC236}">
                <a16:creationId xmlns:a16="http://schemas.microsoft.com/office/drawing/2014/main" id="{497EEB21-618A-47AB-405A-9BA8005A4E22}"/>
              </a:ext>
            </a:extLst>
          </p:cNvPr>
          <p:cNvSpPr txBox="1"/>
          <p:nvPr/>
        </p:nvSpPr>
        <p:spPr>
          <a:xfrm>
            <a:off x="4905807" y="1843737"/>
            <a:ext cx="2380075" cy="369332"/>
          </a:xfrm>
          <a:prstGeom prst="rect">
            <a:avLst/>
          </a:prstGeom>
          <a:noFill/>
        </p:spPr>
        <p:txBody>
          <a:bodyPr wrap="none">
            <a:spAutoFit/>
          </a:bodyPr>
          <a:lstStyle/>
          <a:p>
            <a:pPr algn="l"/>
            <a:r>
              <a:rPr b="0" dirty="0">
                <a:solidFill>
                  <a:srgbClr val="FFFFFF"/>
                </a:solidFill>
                <a:latin typeface="Aptos"/>
              </a:rPr>
              <a:t>Presented by: </a:t>
            </a:r>
            <a:r>
              <a:rPr lang="en-US" dirty="0">
                <a:solidFill>
                  <a:srgbClr val="FFFFFF"/>
                </a:solidFill>
                <a:latin typeface="Aptos"/>
              </a:rPr>
              <a:t>Group 2</a:t>
            </a:r>
            <a:endParaRPr b="0" dirty="0">
              <a:solidFill>
                <a:srgbClr val="FFFFFF"/>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C60E6-3756-234E-58CF-AB7AC8B2A8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B31E2A-E633-3591-4766-056953477A98}"/>
              </a:ext>
            </a:extLst>
          </p:cNvPr>
          <p:cNvSpPr/>
          <p:nvPr/>
        </p:nvSpPr>
        <p:spPr>
          <a:xfrm>
            <a:off x="0"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F2C0B0E2-6DC1-C8CF-7341-B766B800E8B7}"/>
              </a:ext>
            </a:extLst>
          </p:cNvPr>
          <p:cNvSpPr txBox="1"/>
          <p:nvPr/>
        </p:nvSpPr>
        <p:spPr>
          <a:xfrm>
            <a:off x="594360" y="384048"/>
            <a:ext cx="3044231" cy="538609"/>
          </a:xfrm>
          <a:prstGeom prst="rect">
            <a:avLst/>
          </a:prstGeom>
          <a:noFill/>
        </p:spPr>
        <p:txBody>
          <a:bodyPr wrap="none">
            <a:spAutoFit/>
          </a:bodyPr>
          <a:lstStyle/>
          <a:p>
            <a:pPr algn="l"/>
            <a:r>
              <a:rPr sz="2900" b="1" dirty="0">
                <a:solidFill>
                  <a:srgbClr val="FFFFFF"/>
                </a:solidFill>
                <a:latin typeface="Aptos"/>
              </a:rPr>
              <a:t>|  </a:t>
            </a:r>
            <a:r>
              <a:rPr lang="en-US" sz="2900" b="1" dirty="0">
                <a:solidFill>
                  <a:srgbClr val="FFFFFF"/>
                </a:solidFill>
                <a:latin typeface="Aptos"/>
              </a:rPr>
              <a:t>Today’s Agenda</a:t>
            </a:r>
            <a:endParaRPr sz="2900" b="1" dirty="0">
              <a:solidFill>
                <a:srgbClr val="FFFFFF"/>
              </a:solidFill>
              <a:latin typeface="Aptos"/>
            </a:endParaRPr>
          </a:p>
        </p:txBody>
      </p:sp>
      <p:sp>
        <p:nvSpPr>
          <p:cNvPr id="23" name="TextBox 22">
            <a:extLst>
              <a:ext uri="{FF2B5EF4-FFF2-40B4-BE49-F238E27FC236}">
                <a16:creationId xmlns:a16="http://schemas.microsoft.com/office/drawing/2014/main" id="{D841EE45-53E7-E1CE-8E4A-D88E75E2785D}"/>
              </a:ext>
            </a:extLst>
          </p:cNvPr>
          <p:cNvSpPr txBox="1"/>
          <p:nvPr/>
        </p:nvSpPr>
        <p:spPr>
          <a:xfrm>
            <a:off x="539496" y="1152144"/>
            <a:ext cx="11164824" cy="4893647"/>
          </a:xfrm>
          <a:prstGeom prst="rect">
            <a:avLst/>
          </a:prstGeom>
          <a:noFill/>
        </p:spPr>
        <p:txBody>
          <a:bodyPr wrap="square" rtlCol="0">
            <a:spAutoFit/>
          </a:bodyPr>
          <a:lstStyle/>
          <a:p>
            <a:pPr marL="514350" indent="-514350" fontAlgn="t">
              <a:buFontTx/>
              <a:buAutoNum type="arabicPlain"/>
            </a:pPr>
            <a:r>
              <a:rPr lang="en-US" sz="2400" b="1" i="1" dirty="0">
                <a:solidFill>
                  <a:schemeClr val="bg1"/>
                </a:solidFill>
              </a:rPr>
              <a:t>Group Details									8	 </a:t>
            </a:r>
            <a:r>
              <a:rPr lang="en-US" sz="2400" b="1" i="1" dirty="0" err="1">
                <a:solidFill>
                  <a:schemeClr val="bg1"/>
                </a:solidFill>
              </a:rPr>
              <a:t>PowerBI</a:t>
            </a:r>
            <a:r>
              <a:rPr lang="en-US" sz="2400" b="1" i="1" dirty="0">
                <a:solidFill>
                  <a:schemeClr val="bg1"/>
                </a:solidFill>
              </a:rPr>
              <a:t> Dashboard</a:t>
            </a:r>
          </a:p>
          <a:p>
            <a:pPr marL="514350" indent="-514350" fontAlgn="t">
              <a:buFontTx/>
              <a:buAutoNum type="arabicPlain"/>
            </a:pPr>
            <a:endParaRPr lang="en-US" sz="2400" b="1" i="1" dirty="0">
              <a:solidFill>
                <a:schemeClr val="bg1"/>
              </a:solidFill>
            </a:endParaRPr>
          </a:p>
          <a:p>
            <a:pPr marL="514350" indent="-514350" fontAlgn="t">
              <a:buFontTx/>
              <a:buAutoNum type="arabicPlain" startAt="2"/>
            </a:pPr>
            <a:r>
              <a:rPr lang="en-US" sz="2400" b="1" i="1" dirty="0">
                <a:solidFill>
                  <a:schemeClr val="bg1"/>
                </a:solidFill>
              </a:rPr>
              <a:t>Summary &amp; objective Of Project				9	 Tableau Dashboard</a:t>
            </a:r>
          </a:p>
          <a:p>
            <a:pPr fontAlgn="t"/>
            <a:endParaRPr lang="en-US" sz="2400" b="1" i="1" dirty="0">
              <a:solidFill>
                <a:schemeClr val="bg1"/>
              </a:solidFill>
            </a:endParaRPr>
          </a:p>
          <a:p>
            <a:pPr marL="514350" indent="-514350" fontAlgn="t">
              <a:buFontTx/>
              <a:buAutoNum type="arabicPlain" startAt="3"/>
            </a:pPr>
            <a:r>
              <a:rPr lang="en-US" sz="2400" b="1" i="1" dirty="0" err="1">
                <a:solidFill>
                  <a:schemeClr val="bg1"/>
                </a:solidFill>
              </a:rPr>
              <a:t>DataSet</a:t>
            </a:r>
            <a:r>
              <a:rPr lang="en-US" sz="2400" b="1" i="1" dirty="0">
                <a:solidFill>
                  <a:schemeClr val="bg1"/>
                </a:solidFill>
              </a:rPr>
              <a:t> &amp; Data Sources					     10	 SQL Queries </a:t>
            </a:r>
          </a:p>
          <a:p>
            <a:pPr fontAlgn="t"/>
            <a:endParaRPr lang="en-US" sz="2400" b="1" i="1" dirty="0">
              <a:solidFill>
                <a:schemeClr val="bg1"/>
              </a:solidFill>
            </a:endParaRPr>
          </a:p>
          <a:p>
            <a:pPr marL="514350" indent="-514350" fontAlgn="t">
              <a:buFontTx/>
              <a:buAutoNum type="arabicPlain" startAt="4"/>
            </a:pPr>
            <a:r>
              <a:rPr lang="en-US" sz="2400" b="1" i="1" dirty="0">
                <a:solidFill>
                  <a:schemeClr val="bg1"/>
                </a:solidFill>
              </a:rPr>
              <a:t>Data Preparation							     11	 </a:t>
            </a:r>
            <a:r>
              <a:rPr lang="en-US" sz="2400" b="1" i="1" dirty="0">
                <a:solidFill>
                  <a:srgbClr val="FFFFFF"/>
                </a:solidFill>
                <a:latin typeface="Aptos"/>
              </a:rPr>
              <a:t>Key Insights</a:t>
            </a:r>
            <a:endParaRPr lang="en-US" sz="2400" b="1" i="1" dirty="0">
              <a:solidFill>
                <a:schemeClr val="bg1"/>
              </a:solidFill>
            </a:endParaRPr>
          </a:p>
          <a:p>
            <a:pPr marL="514350" indent="-514350" fontAlgn="t">
              <a:buAutoNum type="arabicPlain" startAt="4"/>
            </a:pPr>
            <a:endParaRPr lang="en-US" sz="2400" b="1" i="1" dirty="0">
              <a:solidFill>
                <a:schemeClr val="bg1"/>
              </a:solidFill>
            </a:endParaRPr>
          </a:p>
          <a:p>
            <a:pPr marL="514350" indent="-514350" fontAlgn="t">
              <a:buAutoNum type="arabicPlain" startAt="5"/>
            </a:pPr>
            <a:r>
              <a:rPr lang="en-US" sz="2400" b="1" i="1" dirty="0">
                <a:solidFill>
                  <a:schemeClr val="bg1"/>
                </a:solidFill>
              </a:rPr>
              <a:t>Data Model								     12	 </a:t>
            </a:r>
            <a:r>
              <a:rPr lang="en-US" sz="2400" b="1" i="1" dirty="0">
                <a:solidFill>
                  <a:srgbClr val="FFFFFF"/>
                </a:solidFill>
                <a:latin typeface="Aptos"/>
              </a:rPr>
              <a:t>Challenges &amp; Solutions </a:t>
            </a:r>
            <a:endParaRPr lang="en-US" sz="2400" b="1" i="1" dirty="0">
              <a:solidFill>
                <a:schemeClr val="bg1"/>
              </a:solidFill>
            </a:endParaRPr>
          </a:p>
          <a:p>
            <a:pPr marL="514350" indent="-514350" fontAlgn="t">
              <a:buAutoNum type="arabicPlain" startAt="5"/>
            </a:pPr>
            <a:endParaRPr lang="en-US" sz="2400" b="1" i="1" dirty="0">
              <a:solidFill>
                <a:schemeClr val="bg1"/>
              </a:solidFill>
            </a:endParaRPr>
          </a:p>
          <a:p>
            <a:pPr marL="514350" indent="-514350" fontAlgn="t">
              <a:buFontTx/>
              <a:buAutoNum type="arabicPlain" startAt="5"/>
            </a:pPr>
            <a:r>
              <a:rPr lang="en-US" sz="2400" b="1" i="1" dirty="0">
                <a:solidFill>
                  <a:schemeClr val="bg1"/>
                </a:solidFill>
              </a:rPr>
              <a:t>KPIs 										     13	 </a:t>
            </a:r>
            <a:r>
              <a:rPr lang="en-US" sz="2400" b="1" i="1" dirty="0">
                <a:solidFill>
                  <a:srgbClr val="FFFFFF"/>
                </a:solidFill>
                <a:latin typeface="Aptos"/>
              </a:rPr>
              <a:t>Team Contribution</a:t>
            </a:r>
            <a:r>
              <a:rPr lang="en-US" sz="2400" b="1" i="1" dirty="0">
                <a:solidFill>
                  <a:schemeClr val="bg1"/>
                </a:solidFill>
              </a:rPr>
              <a:t>	</a:t>
            </a:r>
          </a:p>
          <a:p>
            <a:pPr marL="514350" indent="-514350" fontAlgn="t">
              <a:buFontTx/>
              <a:buAutoNum type="arabicPlain" startAt="5"/>
            </a:pPr>
            <a:endParaRPr lang="en-US" sz="2400" b="1" i="1" dirty="0">
              <a:solidFill>
                <a:schemeClr val="bg1"/>
              </a:solidFill>
            </a:endParaRPr>
          </a:p>
          <a:p>
            <a:pPr marL="514350" indent="-514350" fontAlgn="t">
              <a:buFontTx/>
              <a:buAutoNum type="arabicPlain" startAt="5"/>
            </a:pPr>
            <a:r>
              <a:rPr lang="en-US" sz="2400" b="1" i="1" dirty="0">
                <a:solidFill>
                  <a:schemeClr val="bg1"/>
                </a:solidFill>
              </a:rPr>
              <a:t>Excel Dashboard							     14	</a:t>
            </a:r>
            <a:r>
              <a:rPr lang="en-US" sz="2400" b="1" dirty="0">
                <a:solidFill>
                  <a:srgbClr val="FFFFFF"/>
                </a:solidFill>
                <a:latin typeface="Aptos"/>
              </a:rPr>
              <a:t> </a:t>
            </a:r>
            <a:r>
              <a:rPr lang="en-US" sz="2400" b="1" i="1" dirty="0">
                <a:solidFill>
                  <a:srgbClr val="FFFFFF"/>
                </a:solidFill>
                <a:latin typeface="Aptos"/>
              </a:rPr>
              <a:t>Conclusion &amp; Next Steps</a:t>
            </a:r>
            <a:endParaRPr lang="en-US" sz="2400" i="1" dirty="0"/>
          </a:p>
        </p:txBody>
      </p:sp>
    </p:spTree>
    <p:extLst>
      <p:ext uri="{BB962C8B-B14F-4D97-AF65-F5344CB8AC3E}">
        <p14:creationId xmlns:p14="http://schemas.microsoft.com/office/powerpoint/2010/main" val="1102938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D5F93-67C9-4639-AC1E-76861272907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553281C-46C8-0446-DA6C-CBFFED2821FA}"/>
              </a:ext>
            </a:extLst>
          </p:cNvPr>
          <p:cNvSpPr/>
          <p:nvPr/>
        </p:nvSpPr>
        <p:spPr>
          <a:xfrm>
            <a:off x="0"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1E49959-1C18-89E7-CAC3-03ED42077020}"/>
              </a:ext>
            </a:extLst>
          </p:cNvPr>
          <p:cNvSpPr txBox="1"/>
          <p:nvPr/>
        </p:nvSpPr>
        <p:spPr>
          <a:xfrm>
            <a:off x="731520" y="1380744"/>
            <a:ext cx="10415016" cy="4555093"/>
          </a:xfrm>
          <a:prstGeom prst="rect">
            <a:avLst/>
          </a:prstGeom>
          <a:noFill/>
        </p:spPr>
        <p:txBody>
          <a:bodyPr wrap="square">
            <a:spAutoFit/>
          </a:bodyPr>
          <a:lstStyle/>
          <a:p>
            <a:r>
              <a:rPr lang="en-US" sz="3800" b="1" dirty="0">
                <a:solidFill>
                  <a:srgbClr val="FFFFFF"/>
                </a:solidFill>
                <a:latin typeface="Aptos"/>
              </a:rPr>
              <a:t>	</a:t>
            </a:r>
            <a:r>
              <a:rPr lang="en-US" sz="3200" b="1" dirty="0">
                <a:solidFill>
                  <a:srgbClr val="FFFFFF"/>
                </a:solidFill>
                <a:latin typeface="Aptos"/>
              </a:rPr>
              <a:t>Name </a:t>
            </a:r>
            <a:r>
              <a:rPr sz="3200" b="1" dirty="0">
                <a:solidFill>
                  <a:srgbClr val="FFFFFF"/>
                </a:solidFill>
                <a:latin typeface="Aptos"/>
              </a:rPr>
              <a:t> </a:t>
            </a:r>
            <a:r>
              <a:rPr lang="en-US" sz="3200" b="1" dirty="0">
                <a:solidFill>
                  <a:srgbClr val="FFFFFF"/>
                </a:solidFill>
                <a:latin typeface="Aptos"/>
              </a:rPr>
              <a:t>								E-Mail ID    </a:t>
            </a:r>
          </a:p>
          <a:p>
            <a:br>
              <a:rPr dirty="0"/>
            </a:br>
            <a:r>
              <a:rPr lang="en-US" dirty="0">
                <a:solidFill>
                  <a:schemeClr val="bg1"/>
                </a:solidFill>
              </a:rPr>
              <a:t>Vaibhav Jagtap								jagtap2499@gmail.com	</a:t>
            </a:r>
          </a:p>
          <a:p>
            <a:endParaRPr lang="en-US" dirty="0">
              <a:solidFill>
                <a:schemeClr val="bg1"/>
              </a:solidFill>
            </a:endParaRPr>
          </a:p>
          <a:p>
            <a:r>
              <a:rPr lang="en-US" dirty="0">
                <a:solidFill>
                  <a:schemeClr val="bg1"/>
                </a:solidFill>
              </a:rPr>
              <a:t>Sanika Patil									sanikap043@gmail.com	</a:t>
            </a:r>
          </a:p>
          <a:p>
            <a:endParaRPr lang="en-US" dirty="0">
              <a:solidFill>
                <a:schemeClr val="bg1"/>
              </a:solidFill>
            </a:endParaRPr>
          </a:p>
          <a:p>
            <a:r>
              <a:rPr lang="en-US" dirty="0">
                <a:solidFill>
                  <a:schemeClr val="bg1"/>
                </a:solidFill>
              </a:rPr>
              <a:t>Rohan Reddy.									bomminenirohanreddy@gmail.com	</a:t>
            </a:r>
          </a:p>
          <a:p>
            <a:endParaRPr lang="en-US" dirty="0">
              <a:solidFill>
                <a:schemeClr val="bg1"/>
              </a:solidFill>
            </a:endParaRPr>
          </a:p>
          <a:p>
            <a:r>
              <a:rPr lang="en-US" dirty="0">
                <a:solidFill>
                  <a:schemeClr val="bg1"/>
                </a:solidFill>
              </a:rPr>
              <a:t>Varsha </a:t>
            </a:r>
            <a:r>
              <a:rPr lang="en-US" dirty="0" err="1">
                <a:solidFill>
                  <a:schemeClr val="bg1"/>
                </a:solidFill>
              </a:rPr>
              <a:t>Barawkar</a:t>
            </a:r>
            <a:r>
              <a:rPr lang="en-US" dirty="0">
                <a:solidFill>
                  <a:schemeClr val="bg1"/>
                </a:solidFill>
              </a:rPr>
              <a:t>								varshabarawkar0@gmail.com	</a:t>
            </a:r>
          </a:p>
          <a:p>
            <a:endParaRPr lang="en-US" dirty="0">
              <a:solidFill>
                <a:schemeClr val="bg1"/>
              </a:solidFill>
            </a:endParaRPr>
          </a:p>
          <a:p>
            <a:r>
              <a:rPr lang="en-US" dirty="0" err="1">
                <a:solidFill>
                  <a:schemeClr val="bg1"/>
                </a:solidFill>
              </a:rPr>
              <a:t>Maddha</a:t>
            </a:r>
            <a:r>
              <a:rPr lang="en-US" dirty="0">
                <a:solidFill>
                  <a:schemeClr val="bg1"/>
                </a:solidFill>
              </a:rPr>
              <a:t> Prabhu								prabhumanu810@gmail.com	</a:t>
            </a:r>
          </a:p>
          <a:p>
            <a:endParaRPr lang="en-US" dirty="0">
              <a:solidFill>
                <a:schemeClr val="bg1"/>
              </a:solidFill>
            </a:endParaRPr>
          </a:p>
          <a:p>
            <a:r>
              <a:rPr lang="en-US" dirty="0">
                <a:solidFill>
                  <a:schemeClr val="bg1"/>
                </a:solidFill>
              </a:rPr>
              <a:t>Atul Singh									atuls6730@gmail.com	</a:t>
            </a:r>
          </a:p>
          <a:p>
            <a:endParaRPr lang="en-US" dirty="0">
              <a:solidFill>
                <a:schemeClr val="bg1"/>
              </a:solidFill>
            </a:endParaRPr>
          </a:p>
          <a:p>
            <a:r>
              <a:rPr lang="en-US" dirty="0">
                <a:solidFill>
                  <a:schemeClr val="bg1"/>
                </a:solidFill>
              </a:rPr>
              <a:t>Priyadharshini 								Muthaiah	dharshinideva472@gmail.com</a:t>
            </a:r>
            <a:endParaRPr dirty="0">
              <a:solidFill>
                <a:schemeClr val="bg1"/>
              </a:solidFill>
            </a:endParaRPr>
          </a:p>
        </p:txBody>
      </p:sp>
      <p:sp>
        <p:nvSpPr>
          <p:cNvPr id="6" name="TextBox 5">
            <a:extLst>
              <a:ext uri="{FF2B5EF4-FFF2-40B4-BE49-F238E27FC236}">
                <a16:creationId xmlns:a16="http://schemas.microsoft.com/office/drawing/2014/main" id="{F43EDFC2-BDAD-497D-F4B4-C086000CB431}"/>
              </a:ext>
            </a:extLst>
          </p:cNvPr>
          <p:cNvSpPr txBox="1"/>
          <p:nvPr/>
        </p:nvSpPr>
        <p:spPr>
          <a:xfrm>
            <a:off x="253746" y="485076"/>
            <a:ext cx="6796278" cy="538609"/>
          </a:xfrm>
          <a:prstGeom prst="rect">
            <a:avLst/>
          </a:prstGeom>
          <a:noFill/>
        </p:spPr>
        <p:txBody>
          <a:bodyPr wrap="square">
            <a:spAutoFit/>
          </a:bodyPr>
          <a:lstStyle/>
          <a:p>
            <a:pPr algn="l"/>
            <a:r>
              <a:rPr lang="en-US" sz="2900" b="1" dirty="0">
                <a:solidFill>
                  <a:srgbClr val="FFFFFF"/>
                </a:solidFill>
                <a:latin typeface="Aptos"/>
              </a:rPr>
              <a:t>01  |  Members Details Of  </a:t>
            </a:r>
            <a:r>
              <a:rPr lang="en-US" sz="2900" b="1" i="1" dirty="0">
                <a:solidFill>
                  <a:schemeClr val="accent5">
                    <a:lumMod val="40000"/>
                    <a:lumOff val="60000"/>
                  </a:schemeClr>
                </a:solidFill>
                <a:latin typeface="Aptos"/>
              </a:rPr>
              <a:t>Group No 2</a:t>
            </a:r>
          </a:p>
        </p:txBody>
      </p:sp>
    </p:spTree>
    <p:extLst>
      <p:ext uri="{BB962C8B-B14F-4D97-AF65-F5344CB8AC3E}">
        <p14:creationId xmlns:p14="http://schemas.microsoft.com/office/powerpoint/2010/main" val="293209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5923994" cy="538609"/>
          </a:xfrm>
          <a:prstGeom prst="rect">
            <a:avLst/>
          </a:prstGeom>
          <a:noFill/>
        </p:spPr>
        <p:txBody>
          <a:bodyPr wrap="none">
            <a:spAutoFit/>
          </a:bodyPr>
          <a:lstStyle/>
          <a:p>
            <a:pPr algn="l"/>
            <a:r>
              <a:rPr sz="2900" b="1" dirty="0">
                <a:solidFill>
                  <a:srgbClr val="FFFFFF"/>
                </a:solidFill>
                <a:latin typeface="Aptos"/>
              </a:rPr>
              <a:t>0</a:t>
            </a:r>
            <a:r>
              <a:rPr lang="en-US" sz="2900" b="1" dirty="0">
                <a:solidFill>
                  <a:srgbClr val="FFFFFF"/>
                </a:solidFill>
                <a:latin typeface="Aptos"/>
              </a:rPr>
              <a:t>2</a:t>
            </a:r>
            <a:r>
              <a:rPr sz="2900" b="1" dirty="0">
                <a:solidFill>
                  <a:srgbClr val="FFFFFF"/>
                </a:solidFill>
                <a:latin typeface="Aptos"/>
              </a:rPr>
              <a:t>  |  Project</a:t>
            </a:r>
            <a:r>
              <a:rPr lang="en-US" sz="2900" b="1" dirty="0">
                <a:solidFill>
                  <a:srgbClr val="FFFFFF"/>
                </a:solidFill>
                <a:latin typeface="Aptos"/>
              </a:rPr>
              <a:t> Summary</a:t>
            </a:r>
            <a:r>
              <a:rPr sz="2900" b="1" dirty="0">
                <a:solidFill>
                  <a:srgbClr val="FFFFFF"/>
                </a:solidFill>
                <a:latin typeface="Aptos"/>
              </a:rPr>
              <a:t> </a:t>
            </a:r>
            <a:r>
              <a:rPr lang="en-US" sz="2900" b="1" dirty="0">
                <a:solidFill>
                  <a:srgbClr val="FFFFFF"/>
                </a:solidFill>
                <a:latin typeface="Aptos"/>
              </a:rPr>
              <a:t>&amp; </a:t>
            </a:r>
            <a:r>
              <a:rPr sz="2900" b="1" dirty="0">
                <a:solidFill>
                  <a:srgbClr val="FFFFFF"/>
                </a:solidFill>
                <a:latin typeface="Aptos"/>
              </a:rPr>
              <a:t>Objective</a:t>
            </a:r>
          </a:p>
        </p:txBody>
      </p:sp>
      <p:sp>
        <p:nvSpPr>
          <p:cNvPr id="5" name="Rounded Rectangle 4"/>
          <p:cNvSpPr/>
          <p:nvPr/>
        </p:nvSpPr>
        <p:spPr>
          <a:xfrm>
            <a:off x="640080" y="3282696"/>
            <a:ext cx="2331720" cy="1229975"/>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3447287"/>
            <a:ext cx="1929384" cy="292608"/>
          </a:xfrm>
          <a:prstGeom prst="rect">
            <a:avLst/>
          </a:prstGeom>
          <a:noFill/>
        </p:spPr>
        <p:txBody>
          <a:bodyPr wrap="none">
            <a:spAutoFit/>
          </a:bodyPr>
          <a:lstStyle/>
          <a:p>
            <a:pPr algn="l"/>
            <a:r>
              <a:rPr sz="1400" b="1">
                <a:solidFill>
                  <a:srgbClr val="0D1C30"/>
                </a:solidFill>
                <a:latin typeface="Aptos"/>
              </a:rPr>
              <a:t>ANALYZE</a:t>
            </a:r>
          </a:p>
        </p:txBody>
      </p:sp>
      <p:sp>
        <p:nvSpPr>
          <p:cNvPr id="7" name="TextBox 6"/>
          <p:cNvSpPr txBox="1"/>
          <p:nvPr/>
        </p:nvSpPr>
        <p:spPr>
          <a:xfrm>
            <a:off x="841247" y="3849624"/>
            <a:ext cx="2002921" cy="461665"/>
          </a:xfrm>
          <a:prstGeom prst="rect">
            <a:avLst/>
          </a:prstGeom>
          <a:noFill/>
        </p:spPr>
        <p:txBody>
          <a:bodyPr wrap="none">
            <a:spAutoFit/>
          </a:bodyPr>
          <a:lstStyle/>
          <a:p>
            <a:pPr algn="l"/>
            <a:r>
              <a:rPr sz="1200" b="0" dirty="0">
                <a:solidFill>
                  <a:srgbClr val="5F6973"/>
                </a:solidFill>
                <a:latin typeface="Aptos"/>
              </a:rPr>
              <a:t>Understand sales, cost and</a:t>
            </a:r>
            <a:endParaRPr lang="en-US" sz="1200" b="0" dirty="0">
              <a:solidFill>
                <a:srgbClr val="5F6973"/>
              </a:solidFill>
              <a:latin typeface="Aptos"/>
            </a:endParaRPr>
          </a:p>
          <a:p>
            <a:pPr algn="l"/>
            <a:r>
              <a:rPr sz="1200" b="0" dirty="0">
                <a:solidFill>
                  <a:srgbClr val="5F6973"/>
                </a:solidFill>
                <a:latin typeface="Aptos"/>
              </a:rPr>
              <a:t> profit performance.</a:t>
            </a:r>
          </a:p>
        </p:txBody>
      </p:sp>
      <p:sp>
        <p:nvSpPr>
          <p:cNvPr id="8" name="Rounded Rectangle 7"/>
          <p:cNvSpPr/>
          <p:nvPr/>
        </p:nvSpPr>
        <p:spPr>
          <a:xfrm>
            <a:off x="3474720" y="3282696"/>
            <a:ext cx="2331720" cy="1229975"/>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75887" y="3447287"/>
            <a:ext cx="1929384" cy="292608"/>
          </a:xfrm>
          <a:prstGeom prst="rect">
            <a:avLst/>
          </a:prstGeom>
          <a:noFill/>
        </p:spPr>
        <p:txBody>
          <a:bodyPr wrap="none">
            <a:spAutoFit/>
          </a:bodyPr>
          <a:lstStyle/>
          <a:p>
            <a:pPr algn="l"/>
            <a:r>
              <a:rPr sz="1400" b="1">
                <a:solidFill>
                  <a:srgbClr val="0D1C30"/>
                </a:solidFill>
                <a:latin typeface="Aptos"/>
              </a:rPr>
              <a:t>IDENTIFY</a:t>
            </a:r>
          </a:p>
        </p:txBody>
      </p:sp>
      <p:sp>
        <p:nvSpPr>
          <p:cNvPr id="10" name="TextBox 9"/>
          <p:cNvSpPr txBox="1"/>
          <p:nvPr/>
        </p:nvSpPr>
        <p:spPr>
          <a:xfrm>
            <a:off x="3675887" y="3849624"/>
            <a:ext cx="2140522" cy="461665"/>
          </a:xfrm>
          <a:prstGeom prst="rect">
            <a:avLst/>
          </a:prstGeom>
          <a:noFill/>
        </p:spPr>
        <p:txBody>
          <a:bodyPr wrap="none">
            <a:spAutoFit/>
          </a:bodyPr>
          <a:lstStyle/>
          <a:p>
            <a:pPr algn="l"/>
            <a:r>
              <a:rPr sz="1200" b="0" dirty="0">
                <a:solidFill>
                  <a:srgbClr val="5F6973"/>
                </a:solidFill>
                <a:latin typeface="Aptos"/>
              </a:rPr>
              <a:t>Find top products, customers</a:t>
            </a:r>
            <a:endParaRPr lang="en-US" sz="1200" b="0" dirty="0">
              <a:solidFill>
                <a:srgbClr val="5F6973"/>
              </a:solidFill>
              <a:latin typeface="Aptos"/>
            </a:endParaRPr>
          </a:p>
          <a:p>
            <a:pPr algn="l"/>
            <a:r>
              <a:rPr sz="1200" b="0" dirty="0">
                <a:solidFill>
                  <a:srgbClr val="5F6973"/>
                </a:solidFill>
                <a:latin typeface="Aptos"/>
              </a:rPr>
              <a:t> and regions.</a:t>
            </a:r>
          </a:p>
        </p:txBody>
      </p:sp>
      <p:sp>
        <p:nvSpPr>
          <p:cNvPr id="11" name="Rounded Rectangle 10"/>
          <p:cNvSpPr/>
          <p:nvPr/>
        </p:nvSpPr>
        <p:spPr>
          <a:xfrm>
            <a:off x="6309360" y="3282696"/>
            <a:ext cx="2331720" cy="1229975"/>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3447287"/>
            <a:ext cx="1929384" cy="292608"/>
          </a:xfrm>
          <a:prstGeom prst="rect">
            <a:avLst/>
          </a:prstGeom>
          <a:noFill/>
        </p:spPr>
        <p:txBody>
          <a:bodyPr wrap="none">
            <a:spAutoFit/>
          </a:bodyPr>
          <a:lstStyle/>
          <a:p>
            <a:pPr algn="l"/>
            <a:r>
              <a:rPr sz="1400" b="1">
                <a:solidFill>
                  <a:srgbClr val="0D1C30"/>
                </a:solidFill>
                <a:latin typeface="Aptos"/>
              </a:rPr>
              <a:t>COMPARE</a:t>
            </a:r>
          </a:p>
        </p:txBody>
      </p:sp>
      <p:sp>
        <p:nvSpPr>
          <p:cNvPr id="13" name="TextBox 12"/>
          <p:cNvSpPr txBox="1"/>
          <p:nvPr/>
        </p:nvSpPr>
        <p:spPr>
          <a:xfrm>
            <a:off x="6510528" y="3849624"/>
            <a:ext cx="1797223" cy="461665"/>
          </a:xfrm>
          <a:prstGeom prst="rect">
            <a:avLst/>
          </a:prstGeom>
          <a:noFill/>
        </p:spPr>
        <p:txBody>
          <a:bodyPr wrap="none">
            <a:spAutoFit/>
          </a:bodyPr>
          <a:lstStyle/>
          <a:p>
            <a:pPr algn="l"/>
            <a:r>
              <a:rPr sz="1200" b="0" dirty="0">
                <a:solidFill>
                  <a:srgbClr val="5F6973"/>
                </a:solidFill>
                <a:latin typeface="Aptos"/>
              </a:rPr>
              <a:t>Analyze year, month and</a:t>
            </a:r>
            <a:endParaRPr lang="en-US" sz="1200" b="0" dirty="0">
              <a:solidFill>
                <a:srgbClr val="5F6973"/>
              </a:solidFill>
              <a:latin typeface="Aptos"/>
            </a:endParaRPr>
          </a:p>
          <a:p>
            <a:pPr algn="l"/>
            <a:r>
              <a:rPr sz="1200" b="0" dirty="0">
                <a:solidFill>
                  <a:srgbClr val="5F6973"/>
                </a:solidFill>
                <a:latin typeface="Aptos"/>
              </a:rPr>
              <a:t> quarter trends.</a:t>
            </a:r>
          </a:p>
        </p:txBody>
      </p:sp>
      <p:sp>
        <p:nvSpPr>
          <p:cNvPr id="14" name="Rounded Rectangle 13"/>
          <p:cNvSpPr/>
          <p:nvPr/>
        </p:nvSpPr>
        <p:spPr>
          <a:xfrm>
            <a:off x="9144000" y="3282696"/>
            <a:ext cx="2331720" cy="1229975"/>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45168" y="3447287"/>
            <a:ext cx="1929384" cy="292608"/>
          </a:xfrm>
          <a:prstGeom prst="rect">
            <a:avLst/>
          </a:prstGeom>
          <a:noFill/>
        </p:spPr>
        <p:txBody>
          <a:bodyPr wrap="none">
            <a:spAutoFit/>
          </a:bodyPr>
          <a:lstStyle/>
          <a:p>
            <a:pPr algn="l"/>
            <a:r>
              <a:rPr sz="1400" b="1">
                <a:solidFill>
                  <a:srgbClr val="0D1C30"/>
                </a:solidFill>
                <a:latin typeface="Aptos"/>
              </a:rPr>
              <a:t>VISUALIZE</a:t>
            </a:r>
          </a:p>
        </p:txBody>
      </p:sp>
      <p:sp>
        <p:nvSpPr>
          <p:cNvPr id="16" name="TextBox 15"/>
          <p:cNvSpPr txBox="1"/>
          <p:nvPr/>
        </p:nvSpPr>
        <p:spPr>
          <a:xfrm>
            <a:off x="9345168" y="3849624"/>
            <a:ext cx="2081724" cy="461665"/>
          </a:xfrm>
          <a:prstGeom prst="rect">
            <a:avLst/>
          </a:prstGeom>
          <a:noFill/>
        </p:spPr>
        <p:txBody>
          <a:bodyPr wrap="none">
            <a:spAutoFit/>
          </a:bodyPr>
          <a:lstStyle/>
          <a:p>
            <a:pPr algn="l"/>
            <a:r>
              <a:rPr sz="1200" b="0" dirty="0">
                <a:solidFill>
                  <a:srgbClr val="5F6973"/>
                </a:solidFill>
                <a:latin typeface="Aptos"/>
              </a:rPr>
              <a:t>Build interactive dashboards</a:t>
            </a:r>
            <a:endParaRPr lang="en-US" sz="1200" b="0" dirty="0">
              <a:solidFill>
                <a:srgbClr val="5F6973"/>
              </a:solidFill>
              <a:latin typeface="Aptos"/>
            </a:endParaRPr>
          </a:p>
          <a:p>
            <a:pPr algn="l"/>
            <a:r>
              <a:rPr sz="1200" b="0" dirty="0">
                <a:solidFill>
                  <a:srgbClr val="5F6973"/>
                </a:solidFill>
                <a:latin typeface="Aptos"/>
              </a:rPr>
              <a:t> across 3 tools.</a:t>
            </a:r>
          </a:p>
        </p:txBody>
      </p:sp>
      <p:sp>
        <p:nvSpPr>
          <p:cNvPr id="17" name="TextBox 16"/>
          <p:cNvSpPr txBox="1"/>
          <p:nvPr/>
        </p:nvSpPr>
        <p:spPr>
          <a:xfrm>
            <a:off x="886968" y="4636008"/>
            <a:ext cx="3657600" cy="365760"/>
          </a:xfrm>
          <a:prstGeom prst="rect">
            <a:avLst/>
          </a:prstGeom>
          <a:noFill/>
        </p:spPr>
        <p:txBody>
          <a:bodyPr wrap="none">
            <a:spAutoFit/>
          </a:bodyPr>
          <a:lstStyle/>
          <a:p>
            <a:pPr algn="l"/>
            <a:r>
              <a:rPr sz="2000" b="1" dirty="0">
                <a:solidFill>
                  <a:srgbClr val="FFFFFF"/>
                </a:solidFill>
                <a:latin typeface="Aptos"/>
              </a:rPr>
              <a:t>Key Business Questions</a:t>
            </a:r>
          </a:p>
        </p:txBody>
      </p:sp>
      <p:sp>
        <p:nvSpPr>
          <p:cNvPr id="18" name="TextBox 17"/>
          <p:cNvSpPr txBox="1"/>
          <p:nvPr/>
        </p:nvSpPr>
        <p:spPr>
          <a:xfrm>
            <a:off x="713232" y="5093208"/>
            <a:ext cx="8419228" cy="1477328"/>
          </a:xfrm>
          <a:prstGeom prst="rect">
            <a:avLst/>
          </a:prstGeom>
          <a:noFill/>
        </p:spPr>
        <p:txBody>
          <a:bodyPr wrap="none">
            <a:spAutoFit/>
          </a:bodyPr>
          <a:lstStyle/>
          <a:p>
            <a:r>
              <a:rPr lang="en-US" b="0" dirty="0">
                <a:solidFill>
                  <a:schemeClr val="bg1"/>
                </a:solidFill>
                <a:latin typeface="Aptos"/>
              </a:rPr>
              <a:t>• </a:t>
            </a:r>
            <a:r>
              <a:rPr lang="en-US" b="1" dirty="0"/>
              <a:t> </a:t>
            </a:r>
            <a:r>
              <a:rPr lang="en-US" b="1" dirty="0">
                <a:solidFill>
                  <a:schemeClr val="bg1"/>
                </a:solidFill>
              </a:rPr>
              <a:t>Performance:</a:t>
            </a:r>
            <a:r>
              <a:rPr lang="en-US" dirty="0">
                <a:solidFill>
                  <a:schemeClr val="bg1"/>
                </a:solidFill>
              </a:rPr>
              <a:t> How are Sales and Profit performing over time?</a:t>
            </a:r>
          </a:p>
          <a:p>
            <a:r>
              <a:rPr lang="en-US" dirty="0">
                <a:solidFill>
                  <a:schemeClr val="bg1"/>
                </a:solidFill>
                <a:latin typeface="Aptos"/>
              </a:rPr>
              <a:t>•</a:t>
            </a:r>
            <a:r>
              <a:rPr lang="en-US" b="1" dirty="0">
                <a:solidFill>
                  <a:schemeClr val="bg1"/>
                </a:solidFill>
              </a:rPr>
              <a:t>   Products:</a:t>
            </a:r>
            <a:r>
              <a:rPr lang="en-US" dirty="0">
                <a:solidFill>
                  <a:schemeClr val="bg1"/>
                </a:solidFill>
              </a:rPr>
              <a:t> Which products and categories drive Sales and Profit?</a:t>
            </a:r>
          </a:p>
          <a:p>
            <a:r>
              <a:rPr lang="en-US" dirty="0">
                <a:solidFill>
                  <a:schemeClr val="bg1"/>
                </a:solidFill>
                <a:latin typeface="Aptos"/>
              </a:rPr>
              <a:t>•</a:t>
            </a:r>
            <a:r>
              <a:rPr lang="en-US" b="1" dirty="0">
                <a:solidFill>
                  <a:schemeClr val="bg1"/>
                </a:solidFill>
              </a:rPr>
              <a:t>  Customers:</a:t>
            </a:r>
            <a:r>
              <a:rPr lang="en-US" dirty="0">
                <a:solidFill>
                  <a:schemeClr val="bg1"/>
                </a:solidFill>
              </a:rPr>
              <a:t> Who are our highest-value customers?</a:t>
            </a:r>
          </a:p>
          <a:p>
            <a:r>
              <a:rPr lang="en-US" dirty="0">
                <a:solidFill>
                  <a:schemeClr val="bg1"/>
                </a:solidFill>
                <a:latin typeface="Aptos"/>
              </a:rPr>
              <a:t>•</a:t>
            </a:r>
            <a:r>
              <a:rPr lang="en-US" b="1" dirty="0">
                <a:solidFill>
                  <a:schemeClr val="bg1"/>
                </a:solidFill>
              </a:rPr>
              <a:t>  Geography:</a:t>
            </a:r>
            <a:r>
              <a:rPr lang="en-US" dirty="0">
                <a:solidFill>
                  <a:schemeClr val="bg1"/>
                </a:solidFill>
              </a:rPr>
              <a:t> Which regions contribute the most to Sales?</a:t>
            </a:r>
          </a:p>
          <a:p>
            <a:r>
              <a:rPr lang="en-US" dirty="0">
                <a:solidFill>
                  <a:schemeClr val="bg1"/>
                </a:solidFill>
                <a:latin typeface="Aptos"/>
              </a:rPr>
              <a:t>•</a:t>
            </a:r>
            <a:r>
              <a:rPr lang="en-US" b="1" dirty="0">
                <a:solidFill>
                  <a:schemeClr val="bg1"/>
                </a:solidFill>
              </a:rPr>
              <a:t>   Profitability:</a:t>
            </a:r>
            <a:r>
              <a:rPr lang="en-US" dirty="0">
                <a:solidFill>
                  <a:schemeClr val="bg1"/>
                </a:solidFill>
              </a:rPr>
              <a:t> Where can we improve the relationship between Sales, Cost and Profit?</a:t>
            </a:r>
          </a:p>
        </p:txBody>
      </p:sp>
      <p:sp>
        <p:nvSpPr>
          <p:cNvPr id="20" name="TextBox 19">
            <a:extLst>
              <a:ext uri="{FF2B5EF4-FFF2-40B4-BE49-F238E27FC236}">
                <a16:creationId xmlns:a16="http://schemas.microsoft.com/office/drawing/2014/main" id="{FB25E7CA-A648-7938-588A-ED395EDEDEF6}"/>
              </a:ext>
            </a:extLst>
          </p:cNvPr>
          <p:cNvSpPr txBox="1"/>
          <p:nvPr/>
        </p:nvSpPr>
        <p:spPr>
          <a:xfrm>
            <a:off x="314006" y="921930"/>
            <a:ext cx="11362881" cy="2031325"/>
          </a:xfrm>
          <a:prstGeom prst="rect">
            <a:avLst/>
          </a:prstGeom>
          <a:noFill/>
        </p:spPr>
        <p:txBody>
          <a:bodyPr wrap="square" rtlCol="0">
            <a:spAutoFit/>
          </a:bodyPr>
          <a:lstStyle/>
          <a:p>
            <a:pPr marL="285750" indent="-285750">
              <a:buFont typeface="Arial" panose="020B0604020202020204" pitchFamily="34" charset="0"/>
              <a:buChar char="•"/>
            </a:pPr>
            <a:r>
              <a:rPr lang="en-US" b="1" i="1" dirty="0" err="1">
                <a:solidFill>
                  <a:schemeClr val="bg1"/>
                </a:solidFill>
              </a:rPr>
              <a:t>AdventureWorks</a:t>
            </a:r>
            <a:r>
              <a:rPr lang="en-US" b="1" i="1" dirty="0">
                <a:solidFill>
                  <a:schemeClr val="bg1"/>
                </a:solidFill>
              </a:rPr>
              <a:t> Sales Analysis</a:t>
            </a:r>
            <a:r>
              <a:rPr lang="en-US" i="1" dirty="0">
                <a:solidFill>
                  <a:schemeClr val="bg1"/>
                </a:solidFill>
              </a:rPr>
              <a:t> is an end-to-end data analytics project focused on analyzing sales performance and generating meaningful business insights. The project includes </a:t>
            </a:r>
            <a:r>
              <a:rPr lang="en-US" b="1" i="1" dirty="0">
                <a:solidFill>
                  <a:schemeClr val="bg1"/>
                </a:solidFill>
              </a:rPr>
              <a:t>data cleaning, transformation, SQL analysis, data modeling, KPI creation, and dashboard development</a:t>
            </a:r>
            <a:r>
              <a:rPr lang="en-US" i="1" dirty="0">
                <a:solidFill>
                  <a:schemeClr val="bg1"/>
                </a:solidFill>
              </a:rPr>
              <a:t> using </a:t>
            </a:r>
            <a:r>
              <a:rPr lang="en-US" b="1" i="1" dirty="0">
                <a:solidFill>
                  <a:schemeClr val="bg1"/>
                </a:solidFill>
              </a:rPr>
              <a:t>Excel, Power BI, and Tableau. </a:t>
            </a:r>
          </a:p>
          <a:p>
            <a:pPr marL="285750" indent="-285750">
              <a:buFont typeface="Arial" panose="020B0604020202020204" pitchFamily="34" charset="0"/>
              <a:buChar char="•"/>
            </a:pPr>
            <a:r>
              <a:rPr lang="en-US" i="1" dirty="0">
                <a:solidFill>
                  <a:schemeClr val="bg1"/>
                </a:solidFill>
              </a:rPr>
              <a:t>The analysis helps identify </a:t>
            </a:r>
            <a:r>
              <a:rPr lang="en-US" b="1" i="1" dirty="0">
                <a:solidFill>
                  <a:schemeClr val="bg1"/>
                </a:solidFill>
              </a:rPr>
              <a:t>top-performing products, sales territories, customer performance</a:t>
            </a:r>
            <a:r>
              <a:rPr lang="en-US" i="1" dirty="0">
                <a:solidFill>
                  <a:schemeClr val="bg1"/>
                </a:solidFill>
              </a:rPr>
              <a:t> and </a:t>
            </a:r>
            <a:r>
              <a:rPr lang="en-US" b="1" i="1" dirty="0">
                <a:solidFill>
                  <a:schemeClr val="bg1"/>
                </a:solidFill>
              </a:rPr>
              <a:t>sales trends</a:t>
            </a:r>
            <a:r>
              <a:rPr lang="en-US" i="1" dirty="0">
                <a:solidFill>
                  <a:schemeClr val="bg1"/>
                </a:solidFill>
              </a:rPr>
              <a:t>.</a:t>
            </a:r>
          </a:p>
          <a:p>
            <a:pPr marL="285750" indent="-285750">
              <a:buFont typeface="Arial" panose="020B0604020202020204" pitchFamily="34" charset="0"/>
              <a:buChar char="•"/>
            </a:pPr>
            <a:r>
              <a:rPr lang="en-US" i="1" dirty="0">
                <a:solidFill>
                  <a:schemeClr val="bg1"/>
                </a:solidFill>
              </a:rPr>
              <a:t> </a:t>
            </a:r>
            <a:r>
              <a:rPr lang="en-US" b="1" i="1" dirty="0">
                <a:solidFill>
                  <a:schemeClr val="bg1"/>
                </a:solidFill>
              </a:rPr>
              <a:t>Interactive dashboards </a:t>
            </a:r>
            <a:r>
              <a:rPr lang="en-US" i="1" dirty="0">
                <a:solidFill>
                  <a:schemeClr val="bg1"/>
                </a:solidFill>
              </a:rPr>
              <a:t>were developed using </a:t>
            </a:r>
            <a:r>
              <a:rPr lang="en-US" b="1" i="1" dirty="0">
                <a:solidFill>
                  <a:schemeClr val="bg1"/>
                </a:solidFill>
              </a:rPr>
              <a:t>Excel</a:t>
            </a:r>
            <a:r>
              <a:rPr lang="en-US" i="1" dirty="0">
                <a:solidFill>
                  <a:schemeClr val="bg1"/>
                </a:solidFill>
              </a:rPr>
              <a:t>, </a:t>
            </a:r>
            <a:r>
              <a:rPr lang="en-US" b="1" i="1" dirty="0">
                <a:solidFill>
                  <a:schemeClr val="bg1"/>
                </a:solidFill>
              </a:rPr>
              <a:t>Tableau</a:t>
            </a:r>
            <a:r>
              <a:rPr lang="en-US" i="1" dirty="0">
                <a:solidFill>
                  <a:schemeClr val="bg1"/>
                </a:solidFill>
              </a:rPr>
              <a:t> and </a:t>
            </a:r>
            <a:r>
              <a:rPr lang="en-US" b="1" i="1" dirty="0">
                <a:solidFill>
                  <a:schemeClr val="bg1"/>
                </a:solidFill>
              </a:rPr>
              <a:t>Power BI </a:t>
            </a:r>
            <a:r>
              <a:rPr lang="en-US" i="1" dirty="0">
                <a:solidFill>
                  <a:schemeClr val="bg1"/>
                </a:solidFill>
              </a:rPr>
              <a:t>for better visualization and decision                    making.</a:t>
            </a:r>
          </a:p>
          <a:p>
            <a:pPr marL="285750" indent="-285750">
              <a:buFont typeface="Arial" panose="020B0604020202020204" pitchFamily="34" charset="0"/>
              <a:buChar char="•"/>
            </a:pPr>
            <a:r>
              <a:rPr lang="en-US" b="1" i="1" dirty="0">
                <a:solidFill>
                  <a:schemeClr val="bg1"/>
                </a:solidFill>
              </a:rPr>
              <a:t>SQL</a:t>
            </a:r>
            <a:r>
              <a:rPr lang="en-US" i="1" dirty="0">
                <a:solidFill>
                  <a:schemeClr val="bg1"/>
                </a:solidFill>
              </a:rPr>
              <a:t> was used to extract, transform and analyze the data and generate </a:t>
            </a:r>
            <a:r>
              <a:rPr lang="en-US" b="1" i="1" dirty="0">
                <a:solidFill>
                  <a:schemeClr val="bg1"/>
                </a:solidFill>
              </a:rPr>
              <a:t>meaningful business insights</a:t>
            </a:r>
            <a:r>
              <a:rPr lang="en-US" i="1" dirty="0">
                <a:solidFill>
                  <a:schemeClr val="bg1"/>
                </a:solidFil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4982774" cy="538609"/>
          </a:xfrm>
          <a:prstGeom prst="rect">
            <a:avLst/>
          </a:prstGeom>
          <a:noFill/>
        </p:spPr>
        <p:txBody>
          <a:bodyPr wrap="none">
            <a:spAutoFit/>
          </a:bodyPr>
          <a:lstStyle/>
          <a:p>
            <a:pPr algn="l"/>
            <a:r>
              <a:rPr sz="2900" b="1" dirty="0">
                <a:solidFill>
                  <a:srgbClr val="FFFFFF"/>
                </a:solidFill>
                <a:latin typeface="Aptos"/>
              </a:rPr>
              <a:t>0</a:t>
            </a:r>
            <a:r>
              <a:rPr lang="en-US" sz="2900" b="1" dirty="0">
                <a:solidFill>
                  <a:srgbClr val="FFFFFF"/>
                </a:solidFill>
                <a:latin typeface="Aptos"/>
              </a:rPr>
              <a:t>3</a:t>
            </a:r>
            <a:r>
              <a:rPr sz="2900" b="1" dirty="0">
                <a:solidFill>
                  <a:srgbClr val="FFFFFF"/>
                </a:solidFill>
                <a:latin typeface="Aptos"/>
              </a:rPr>
              <a:t>  |  Dataset &amp; Data Sources</a:t>
            </a:r>
          </a:p>
        </p:txBody>
      </p:sp>
      <p:sp>
        <p:nvSpPr>
          <p:cNvPr id="4" name="TextBox 3"/>
          <p:cNvSpPr txBox="1"/>
          <p:nvPr/>
        </p:nvSpPr>
        <p:spPr>
          <a:xfrm>
            <a:off x="621792" y="914400"/>
            <a:ext cx="10972800" cy="320040"/>
          </a:xfrm>
          <a:prstGeom prst="rect">
            <a:avLst/>
          </a:prstGeom>
          <a:noFill/>
        </p:spPr>
        <p:txBody>
          <a:bodyPr wrap="none">
            <a:spAutoFit/>
          </a:bodyPr>
          <a:lstStyle/>
          <a:p>
            <a:pPr algn="l"/>
            <a:r>
              <a:rPr sz="1300" b="0">
                <a:solidFill>
                  <a:srgbClr val="BECDDC"/>
                </a:solidFill>
                <a:latin typeface="Aptos"/>
              </a:rPr>
              <a:t>AdventureWorks sales model</a:t>
            </a:r>
          </a:p>
        </p:txBody>
      </p:sp>
      <p:sp>
        <p:nvSpPr>
          <p:cNvPr id="5" name="Rounded Rectangle 4"/>
          <p:cNvSpPr/>
          <p:nvPr/>
        </p:nvSpPr>
        <p:spPr>
          <a:xfrm>
            <a:off x="685800" y="1600200"/>
            <a:ext cx="2331720" cy="201168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764792"/>
            <a:ext cx="1153521" cy="307777"/>
          </a:xfrm>
          <a:prstGeom prst="rect">
            <a:avLst/>
          </a:prstGeom>
          <a:noFill/>
        </p:spPr>
        <p:txBody>
          <a:bodyPr wrap="none">
            <a:spAutoFit/>
          </a:bodyPr>
          <a:lstStyle/>
          <a:p>
            <a:pPr algn="l"/>
            <a:r>
              <a:rPr sz="1400" b="1" dirty="0">
                <a:solidFill>
                  <a:srgbClr val="0D1C30"/>
                </a:solidFill>
                <a:latin typeface="Aptos"/>
              </a:rPr>
              <a:t>FACT</a:t>
            </a:r>
            <a:r>
              <a:rPr lang="en-US" sz="1400" b="1" dirty="0">
                <a:solidFill>
                  <a:srgbClr val="0D1C30"/>
                </a:solidFill>
                <a:latin typeface="Aptos"/>
              </a:rPr>
              <a:t> SALES</a:t>
            </a:r>
            <a:endParaRPr sz="1400" b="1" dirty="0">
              <a:solidFill>
                <a:srgbClr val="0D1C30"/>
              </a:solidFill>
              <a:latin typeface="Aptos"/>
            </a:endParaRPr>
          </a:p>
        </p:txBody>
      </p:sp>
      <p:sp>
        <p:nvSpPr>
          <p:cNvPr id="7" name="TextBox 6"/>
          <p:cNvSpPr txBox="1"/>
          <p:nvPr/>
        </p:nvSpPr>
        <p:spPr>
          <a:xfrm>
            <a:off x="914401" y="2276856"/>
            <a:ext cx="1901952" cy="923330"/>
          </a:xfrm>
          <a:prstGeom prst="rect">
            <a:avLst/>
          </a:prstGeom>
          <a:noFill/>
        </p:spPr>
        <p:txBody>
          <a:bodyPr wrap="square">
            <a:spAutoFit/>
          </a:bodyPr>
          <a:lstStyle/>
          <a:p>
            <a:pPr algn="l"/>
            <a:r>
              <a:rPr sz="1200" b="0" dirty="0">
                <a:solidFill>
                  <a:srgbClr val="5F6973"/>
                </a:solidFill>
                <a:latin typeface="Aptos"/>
              </a:rPr>
              <a:t>Fact Internet Sales</a:t>
            </a:r>
            <a:r>
              <a:rPr lang="en-US" sz="1200" b="0" dirty="0">
                <a:solidFill>
                  <a:srgbClr val="5F6973"/>
                </a:solidFill>
                <a:latin typeface="Aptos"/>
              </a:rPr>
              <a:t> </a:t>
            </a:r>
          </a:p>
          <a:p>
            <a:pPr algn="l"/>
            <a:r>
              <a:rPr lang="en-US" sz="1200" dirty="0">
                <a:solidFill>
                  <a:srgbClr val="5F6973"/>
                </a:solidFill>
                <a:latin typeface="Aptos"/>
              </a:rPr>
              <a:t>	   &amp;</a:t>
            </a:r>
          </a:p>
          <a:p>
            <a:pPr algn="l"/>
            <a:r>
              <a:rPr lang="en-US" sz="1200" dirty="0">
                <a:solidFill>
                  <a:srgbClr val="5F6973"/>
                </a:solidFill>
                <a:latin typeface="Aptos"/>
              </a:rPr>
              <a:t>Fact Internet Sales New</a:t>
            </a:r>
            <a:br>
              <a:rPr dirty="0"/>
            </a:br>
            <a:endParaRPr dirty="0"/>
          </a:p>
        </p:txBody>
      </p:sp>
      <p:sp>
        <p:nvSpPr>
          <p:cNvPr id="8" name="Rounded Rectangle 7"/>
          <p:cNvSpPr/>
          <p:nvPr/>
        </p:nvSpPr>
        <p:spPr>
          <a:xfrm>
            <a:off x="3520440" y="1600200"/>
            <a:ext cx="2331720" cy="201168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21608" y="1764792"/>
            <a:ext cx="1929384" cy="292608"/>
          </a:xfrm>
          <a:prstGeom prst="rect">
            <a:avLst/>
          </a:prstGeom>
          <a:noFill/>
        </p:spPr>
        <p:txBody>
          <a:bodyPr wrap="none">
            <a:spAutoFit/>
          </a:bodyPr>
          <a:lstStyle/>
          <a:p>
            <a:pPr algn="l"/>
            <a:r>
              <a:rPr sz="1400" b="1">
                <a:solidFill>
                  <a:srgbClr val="0D1C30"/>
                </a:solidFill>
                <a:latin typeface="Aptos"/>
              </a:rPr>
              <a:t>PRODUCT</a:t>
            </a:r>
          </a:p>
        </p:txBody>
      </p:sp>
      <p:sp>
        <p:nvSpPr>
          <p:cNvPr id="10" name="TextBox 9"/>
          <p:cNvSpPr txBox="1"/>
          <p:nvPr/>
        </p:nvSpPr>
        <p:spPr>
          <a:xfrm>
            <a:off x="3767328" y="2167128"/>
            <a:ext cx="1624419" cy="1292662"/>
          </a:xfrm>
          <a:prstGeom prst="rect">
            <a:avLst/>
          </a:prstGeom>
          <a:noFill/>
        </p:spPr>
        <p:txBody>
          <a:bodyPr wrap="none">
            <a:spAutoFit/>
          </a:bodyPr>
          <a:lstStyle/>
          <a:p>
            <a:pPr algn="l"/>
            <a:r>
              <a:rPr lang="en-US" sz="1200" b="0" dirty="0" err="1">
                <a:solidFill>
                  <a:srgbClr val="5F6973"/>
                </a:solidFill>
                <a:latin typeface="Aptos"/>
              </a:rPr>
              <a:t>Dim</a:t>
            </a:r>
            <a:r>
              <a:rPr sz="1200" b="0" dirty="0" err="1">
                <a:solidFill>
                  <a:srgbClr val="5F6973"/>
                </a:solidFill>
                <a:latin typeface="Aptos"/>
              </a:rPr>
              <a:t>Product</a:t>
            </a:r>
            <a:r>
              <a:rPr lang="en-US" sz="1200" b="0" dirty="0">
                <a:solidFill>
                  <a:srgbClr val="5F6973"/>
                </a:solidFill>
                <a:latin typeface="Aptos"/>
              </a:rPr>
              <a:t> </a:t>
            </a:r>
          </a:p>
          <a:p>
            <a:pPr algn="l"/>
            <a:endParaRPr lang="en-US" sz="1200" dirty="0">
              <a:solidFill>
                <a:srgbClr val="5F6973"/>
              </a:solidFill>
              <a:latin typeface="Aptos"/>
            </a:endParaRPr>
          </a:p>
          <a:p>
            <a:pPr algn="l"/>
            <a:r>
              <a:rPr lang="en-US" sz="1200" dirty="0" err="1">
                <a:solidFill>
                  <a:srgbClr val="5F6973"/>
                </a:solidFill>
                <a:latin typeface="Aptos"/>
              </a:rPr>
              <a:t>DimProdCategory</a:t>
            </a:r>
            <a:endParaRPr lang="en-US" sz="1200" dirty="0">
              <a:solidFill>
                <a:srgbClr val="5F6973"/>
              </a:solidFill>
              <a:latin typeface="Aptos"/>
            </a:endParaRPr>
          </a:p>
          <a:p>
            <a:pPr algn="l"/>
            <a:endParaRPr lang="en-US" sz="1200" dirty="0">
              <a:solidFill>
                <a:srgbClr val="5F6973"/>
              </a:solidFill>
              <a:latin typeface="Aptos"/>
            </a:endParaRPr>
          </a:p>
          <a:p>
            <a:pPr algn="l"/>
            <a:r>
              <a:rPr lang="en-US" sz="1200" dirty="0" err="1">
                <a:solidFill>
                  <a:srgbClr val="5F6973"/>
                </a:solidFill>
                <a:latin typeface="Aptos"/>
              </a:rPr>
              <a:t>DimProdSubCategory</a:t>
            </a:r>
            <a:br>
              <a:rPr dirty="0"/>
            </a:br>
            <a:endParaRPr dirty="0"/>
          </a:p>
        </p:txBody>
      </p:sp>
      <p:sp>
        <p:nvSpPr>
          <p:cNvPr id="11" name="Rounded Rectangle 10"/>
          <p:cNvSpPr/>
          <p:nvPr/>
        </p:nvSpPr>
        <p:spPr>
          <a:xfrm>
            <a:off x="6355080" y="1600200"/>
            <a:ext cx="2331720" cy="201168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56248" y="1764792"/>
            <a:ext cx="1929384" cy="292608"/>
          </a:xfrm>
          <a:prstGeom prst="rect">
            <a:avLst/>
          </a:prstGeom>
          <a:noFill/>
        </p:spPr>
        <p:txBody>
          <a:bodyPr wrap="none">
            <a:spAutoFit/>
          </a:bodyPr>
          <a:lstStyle/>
          <a:p>
            <a:pPr algn="l"/>
            <a:r>
              <a:rPr sz="1400" b="1">
                <a:solidFill>
                  <a:srgbClr val="0D1C30"/>
                </a:solidFill>
                <a:latin typeface="Aptos"/>
              </a:rPr>
              <a:t>CUSTOMER</a:t>
            </a:r>
          </a:p>
        </p:txBody>
      </p:sp>
      <p:sp>
        <p:nvSpPr>
          <p:cNvPr id="13" name="TextBox 12"/>
          <p:cNvSpPr txBox="1"/>
          <p:nvPr/>
        </p:nvSpPr>
        <p:spPr>
          <a:xfrm>
            <a:off x="6876288" y="2286000"/>
            <a:ext cx="1123962" cy="276999"/>
          </a:xfrm>
          <a:prstGeom prst="rect">
            <a:avLst/>
          </a:prstGeom>
          <a:noFill/>
        </p:spPr>
        <p:txBody>
          <a:bodyPr wrap="none">
            <a:spAutoFit/>
          </a:bodyPr>
          <a:lstStyle/>
          <a:p>
            <a:pPr algn="l"/>
            <a:r>
              <a:rPr lang="en-US" sz="1200" b="0" dirty="0" err="1">
                <a:solidFill>
                  <a:srgbClr val="5F6973"/>
                </a:solidFill>
                <a:latin typeface="Aptos"/>
              </a:rPr>
              <a:t>Dim</a:t>
            </a:r>
            <a:r>
              <a:rPr sz="1200" b="0" dirty="0" err="1">
                <a:solidFill>
                  <a:srgbClr val="5F6973"/>
                </a:solidFill>
                <a:latin typeface="Aptos"/>
              </a:rPr>
              <a:t>Customer</a:t>
            </a:r>
            <a:endParaRPr dirty="0"/>
          </a:p>
        </p:txBody>
      </p:sp>
      <p:sp>
        <p:nvSpPr>
          <p:cNvPr id="14" name="Rounded Rectangle 13"/>
          <p:cNvSpPr/>
          <p:nvPr/>
        </p:nvSpPr>
        <p:spPr>
          <a:xfrm>
            <a:off x="9189720" y="1600200"/>
            <a:ext cx="2331720" cy="201168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90888" y="1764792"/>
            <a:ext cx="1929384" cy="292608"/>
          </a:xfrm>
          <a:prstGeom prst="rect">
            <a:avLst/>
          </a:prstGeom>
          <a:noFill/>
        </p:spPr>
        <p:txBody>
          <a:bodyPr wrap="none">
            <a:spAutoFit/>
          </a:bodyPr>
          <a:lstStyle/>
          <a:p>
            <a:pPr algn="l"/>
            <a:r>
              <a:rPr sz="1400" b="1">
                <a:solidFill>
                  <a:srgbClr val="0D1C30"/>
                </a:solidFill>
                <a:latin typeface="Aptos"/>
              </a:rPr>
              <a:t>DATE / REGION</a:t>
            </a:r>
          </a:p>
        </p:txBody>
      </p:sp>
      <p:sp>
        <p:nvSpPr>
          <p:cNvPr id="16" name="TextBox 15"/>
          <p:cNvSpPr txBox="1"/>
          <p:nvPr/>
        </p:nvSpPr>
        <p:spPr>
          <a:xfrm>
            <a:off x="9555480" y="2167128"/>
            <a:ext cx="1363322" cy="1107996"/>
          </a:xfrm>
          <a:prstGeom prst="rect">
            <a:avLst/>
          </a:prstGeom>
          <a:noFill/>
        </p:spPr>
        <p:txBody>
          <a:bodyPr wrap="none">
            <a:spAutoFit/>
          </a:bodyPr>
          <a:lstStyle/>
          <a:p>
            <a:pPr algn="l"/>
            <a:r>
              <a:rPr lang="en-US" sz="1200" b="0" dirty="0" err="1">
                <a:solidFill>
                  <a:srgbClr val="5F6973"/>
                </a:solidFill>
                <a:latin typeface="Aptos"/>
              </a:rPr>
              <a:t>Dim</a:t>
            </a:r>
            <a:r>
              <a:rPr sz="1200" b="0" dirty="0" err="1">
                <a:solidFill>
                  <a:srgbClr val="5F6973"/>
                </a:solidFill>
                <a:latin typeface="Aptos"/>
              </a:rPr>
              <a:t>Date</a:t>
            </a:r>
            <a:endParaRPr lang="en-US" sz="1200" b="0" dirty="0">
              <a:solidFill>
                <a:srgbClr val="5F6973"/>
              </a:solidFill>
              <a:latin typeface="Aptos"/>
            </a:endParaRPr>
          </a:p>
          <a:p>
            <a:pPr algn="l"/>
            <a:endParaRPr lang="en-US" sz="1200" dirty="0">
              <a:solidFill>
                <a:srgbClr val="5F6973"/>
              </a:solidFill>
              <a:latin typeface="Aptos"/>
            </a:endParaRPr>
          </a:p>
          <a:p>
            <a:pPr algn="l"/>
            <a:endParaRPr lang="en-US" sz="1200" dirty="0">
              <a:solidFill>
                <a:srgbClr val="5F6973"/>
              </a:solidFill>
              <a:latin typeface="Aptos"/>
            </a:endParaRPr>
          </a:p>
          <a:p>
            <a:pPr algn="l"/>
            <a:r>
              <a:rPr lang="en-US" sz="1200" dirty="0" err="1">
                <a:solidFill>
                  <a:srgbClr val="5F6973"/>
                </a:solidFill>
                <a:latin typeface="Aptos"/>
              </a:rPr>
              <a:t>DimSalesTerritory</a:t>
            </a:r>
            <a:br>
              <a:rPr dirty="0"/>
            </a:br>
            <a:endParaRPr lang="en-US" dirty="0"/>
          </a:p>
        </p:txBody>
      </p:sp>
      <p:sp>
        <p:nvSpPr>
          <p:cNvPr id="17" name="TextBox 16"/>
          <p:cNvSpPr txBox="1"/>
          <p:nvPr/>
        </p:nvSpPr>
        <p:spPr>
          <a:xfrm>
            <a:off x="731520" y="4160520"/>
            <a:ext cx="2743200" cy="365760"/>
          </a:xfrm>
          <a:prstGeom prst="rect">
            <a:avLst/>
          </a:prstGeom>
          <a:noFill/>
        </p:spPr>
        <p:txBody>
          <a:bodyPr wrap="none">
            <a:spAutoFit/>
          </a:bodyPr>
          <a:lstStyle/>
          <a:p>
            <a:pPr algn="l"/>
            <a:r>
              <a:rPr sz="1900" b="1">
                <a:solidFill>
                  <a:srgbClr val="FFFFFF"/>
                </a:solidFill>
                <a:latin typeface="Aptos"/>
              </a:rPr>
              <a:t>Core dimensions</a:t>
            </a:r>
          </a:p>
        </p:txBody>
      </p:sp>
      <p:sp>
        <p:nvSpPr>
          <p:cNvPr id="18" name="TextBox 17"/>
          <p:cNvSpPr txBox="1"/>
          <p:nvPr/>
        </p:nvSpPr>
        <p:spPr>
          <a:xfrm>
            <a:off x="731520" y="4617720"/>
            <a:ext cx="10058400" cy="411480"/>
          </a:xfrm>
          <a:prstGeom prst="rect">
            <a:avLst/>
          </a:prstGeom>
          <a:noFill/>
        </p:spPr>
        <p:txBody>
          <a:bodyPr wrap="none">
            <a:spAutoFit/>
          </a:bodyPr>
          <a:lstStyle/>
          <a:p>
            <a:pPr algn="l"/>
            <a:r>
              <a:rPr sz="1700" b="0">
                <a:solidFill>
                  <a:srgbClr val="D2DCE6"/>
                </a:solidFill>
                <a:latin typeface="Aptos"/>
              </a:rPr>
              <a:t>Product  •  Customer  •  Date  •  Sales Territory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3833293" cy="538609"/>
          </a:xfrm>
          <a:prstGeom prst="rect">
            <a:avLst/>
          </a:prstGeom>
          <a:noFill/>
        </p:spPr>
        <p:txBody>
          <a:bodyPr wrap="none">
            <a:spAutoFit/>
          </a:bodyPr>
          <a:lstStyle/>
          <a:p>
            <a:pPr algn="l"/>
            <a:r>
              <a:rPr sz="2900" b="1" dirty="0">
                <a:solidFill>
                  <a:srgbClr val="FFFFFF"/>
                </a:solidFill>
                <a:latin typeface="Aptos"/>
              </a:rPr>
              <a:t>0</a:t>
            </a:r>
            <a:r>
              <a:rPr lang="en-US" sz="2900" b="1" dirty="0">
                <a:solidFill>
                  <a:srgbClr val="FFFFFF"/>
                </a:solidFill>
                <a:latin typeface="Aptos"/>
              </a:rPr>
              <a:t>4</a:t>
            </a:r>
            <a:r>
              <a:rPr sz="2900" b="1" dirty="0">
                <a:solidFill>
                  <a:srgbClr val="FFFFFF"/>
                </a:solidFill>
                <a:latin typeface="Aptos"/>
              </a:rPr>
              <a:t>  |  Data Preparation</a:t>
            </a:r>
          </a:p>
        </p:txBody>
      </p:sp>
      <p:sp>
        <p:nvSpPr>
          <p:cNvPr id="4" name="TextBox 3"/>
          <p:cNvSpPr txBox="1"/>
          <p:nvPr/>
        </p:nvSpPr>
        <p:spPr>
          <a:xfrm>
            <a:off x="621792" y="914400"/>
            <a:ext cx="10972800" cy="320040"/>
          </a:xfrm>
          <a:prstGeom prst="rect">
            <a:avLst/>
          </a:prstGeom>
          <a:noFill/>
        </p:spPr>
        <p:txBody>
          <a:bodyPr wrap="none">
            <a:spAutoFit/>
          </a:bodyPr>
          <a:lstStyle/>
          <a:p>
            <a:pPr algn="l"/>
            <a:r>
              <a:rPr sz="1300" b="0">
                <a:solidFill>
                  <a:srgbClr val="BECDDC"/>
                </a:solidFill>
                <a:latin typeface="Aptos"/>
              </a:rPr>
              <a:t>Power Query transformation pipeline</a:t>
            </a:r>
          </a:p>
        </p:txBody>
      </p:sp>
      <p:sp>
        <p:nvSpPr>
          <p:cNvPr id="5" name="Rounded Rectangle 4"/>
          <p:cNvSpPr/>
          <p:nvPr/>
        </p:nvSpPr>
        <p:spPr>
          <a:xfrm>
            <a:off x="365760" y="1691640"/>
            <a:ext cx="1417320" cy="141732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2176272"/>
            <a:ext cx="1014984" cy="292608"/>
          </a:xfrm>
          <a:prstGeom prst="rect">
            <a:avLst/>
          </a:prstGeom>
          <a:noFill/>
        </p:spPr>
        <p:txBody>
          <a:bodyPr wrap="none">
            <a:spAutoFit/>
          </a:bodyPr>
          <a:lstStyle/>
          <a:p>
            <a:pPr algn="l"/>
            <a:r>
              <a:rPr sz="1400" b="1">
                <a:solidFill>
                  <a:srgbClr val="0D1C30"/>
                </a:solidFill>
                <a:latin typeface="Aptos"/>
              </a:rPr>
              <a:t>RAW DATA</a:t>
            </a:r>
          </a:p>
        </p:txBody>
      </p:sp>
      <p:sp>
        <p:nvSpPr>
          <p:cNvPr id="7" name="TextBox 6"/>
          <p:cNvSpPr txBox="1"/>
          <p:nvPr/>
        </p:nvSpPr>
        <p:spPr>
          <a:xfrm>
            <a:off x="1783080" y="2176272"/>
            <a:ext cx="228600" cy="274320"/>
          </a:xfrm>
          <a:prstGeom prst="rect">
            <a:avLst/>
          </a:prstGeom>
          <a:noFill/>
        </p:spPr>
        <p:txBody>
          <a:bodyPr wrap="none">
            <a:spAutoFit/>
          </a:bodyPr>
          <a:lstStyle/>
          <a:p>
            <a:pPr algn="ctr"/>
            <a:r>
              <a:rPr sz="1900" b="1">
                <a:solidFill>
                  <a:srgbClr val="96BEE1"/>
                </a:solidFill>
                <a:latin typeface="Aptos"/>
              </a:rPr>
              <a:t>→</a:t>
            </a:r>
          </a:p>
        </p:txBody>
      </p:sp>
      <p:sp>
        <p:nvSpPr>
          <p:cNvPr id="8" name="Rounded Rectangle 7"/>
          <p:cNvSpPr/>
          <p:nvPr/>
        </p:nvSpPr>
        <p:spPr>
          <a:xfrm>
            <a:off x="2048256" y="1691640"/>
            <a:ext cx="1417320" cy="141732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350008" y="2194560"/>
            <a:ext cx="1014984" cy="292608"/>
          </a:xfrm>
          <a:prstGeom prst="rect">
            <a:avLst/>
          </a:prstGeom>
          <a:noFill/>
        </p:spPr>
        <p:txBody>
          <a:bodyPr wrap="none">
            <a:spAutoFit/>
          </a:bodyPr>
          <a:lstStyle/>
          <a:p>
            <a:pPr algn="l"/>
            <a:r>
              <a:rPr sz="1400" b="1">
                <a:solidFill>
                  <a:srgbClr val="0D1C30"/>
                </a:solidFill>
                <a:latin typeface="Aptos"/>
              </a:rPr>
              <a:t>IMPORT</a:t>
            </a:r>
          </a:p>
        </p:txBody>
      </p:sp>
      <p:sp>
        <p:nvSpPr>
          <p:cNvPr id="10" name="TextBox 9"/>
          <p:cNvSpPr txBox="1"/>
          <p:nvPr/>
        </p:nvSpPr>
        <p:spPr>
          <a:xfrm>
            <a:off x="3465576" y="2176272"/>
            <a:ext cx="228600" cy="274320"/>
          </a:xfrm>
          <a:prstGeom prst="rect">
            <a:avLst/>
          </a:prstGeom>
          <a:noFill/>
        </p:spPr>
        <p:txBody>
          <a:bodyPr wrap="none">
            <a:spAutoFit/>
          </a:bodyPr>
          <a:lstStyle/>
          <a:p>
            <a:pPr algn="ctr"/>
            <a:r>
              <a:rPr sz="1900" b="1">
                <a:solidFill>
                  <a:srgbClr val="96BEE1"/>
                </a:solidFill>
                <a:latin typeface="Aptos"/>
              </a:rPr>
              <a:t>→</a:t>
            </a:r>
          </a:p>
        </p:txBody>
      </p:sp>
      <p:sp>
        <p:nvSpPr>
          <p:cNvPr id="11" name="Rounded Rectangle 10"/>
          <p:cNvSpPr/>
          <p:nvPr/>
        </p:nvSpPr>
        <p:spPr>
          <a:xfrm>
            <a:off x="3730752" y="1691640"/>
            <a:ext cx="1417320" cy="141732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59936" y="2194560"/>
            <a:ext cx="1014984" cy="292608"/>
          </a:xfrm>
          <a:prstGeom prst="rect">
            <a:avLst/>
          </a:prstGeom>
          <a:noFill/>
        </p:spPr>
        <p:txBody>
          <a:bodyPr wrap="none">
            <a:spAutoFit/>
          </a:bodyPr>
          <a:lstStyle/>
          <a:p>
            <a:pPr algn="l"/>
            <a:r>
              <a:rPr sz="1400" b="1">
                <a:solidFill>
                  <a:srgbClr val="0D1C30"/>
                </a:solidFill>
                <a:latin typeface="Aptos"/>
              </a:rPr>
              <a:t>CLEAN</a:t>
            </a:r>
          </a:p>
        </p:txBody>
      </p:sp>
      <p:sp>
        <p:nvSpPr>
          <p:cNvPr id="13" name="TextBox 12"/>
          <p:cNvSpPr txBox="1"/>
          <p:nvPr/>
        </p:nvSpPr>
        <p:spPr>
          <a:xfrm>
            <a:off x="5148072" y="2176272"/>
            <a:ext cx="228600" cy="274320"/>
          </a:xfrm>
          <a:prstGeom prst="rect">
            <a:avLst/>
          </a:prstGeom>
          <a:noFill/>
        </p:spPr>
        <p:txBody>
          <a:bodyPr wrap="none">
            <a:spAutoFit/>
          </a:bodyPr>
          <a:lstStyle/>
          <a:p>
            <a:pPr algn="ctr"/>
            <a:r>
              <a:rPr sz="1900" b="1">
                <a:solidFill>
                  <a:srgbClr val="96BEE1"/>
                </a:solidFill>
                <a:latin typeface="Aptos"/>
              </a:rPr>
              <a:t>→</a:t>
            </a:r>
          </a:p>
        </p:txBody>
      </p:sp>
      <p:sp>
        <p:nvSpPr>
          <p:cNvPr id="14" name="Rounded Rectangle 13"/>
          <p:cNvSpPr/>
          <p:nvPr/>
        </p:nvSpPr>
        <p:spPr>
          <a:xfrm>
            <a:off x="5413248" y="1691640"/>
            <a:ext cx="1417320" cy="141732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15000" y="2194560"/>
            <a:ext cx="1014984" cy="292608"/>
          </a:xfrm>
          <a:prstGeom prst="rect">
            <a:avLst/>
          </a:prstGeom>
          <a:noFill/>
        </p:spPr>
        <p:txBody>
          <a:bodyPr wrap="none">
            <a:spAutoFit/>
          </a:bodyPr>
          <a:lstStyle/>
          <a:p>
            <a:pPr algn="l"/>
            <a:r>
              <a:rPr sz="1400" b="1">
                <a:solidFill>
                  <a:srgbClr val="0D1C30"/>
                </a:solidFill>
                <a:latin typeface="Aptos"/>
              </a:rPr>
              <a:t>APPEND</a:t>
            </a:r>
          </a:p>
        </p:txBody>
      </p:sp>
      <p:sp>
        <p:nvSpPr>
          <p:cNvPr id="16" name="TextBox 15"/>
          <p:cNvSpPr txBox="1"/>
          <p:nvPr/>
        </p:nvSpPr>
        <p:spPr>
          <a:xfrm>
            <a:off x="6830568" y="2176272"/>
            <a:ext cx="228600" cy="274320"/>
          </a:xfrm>
          <a:prstGeom prst="rect">
            <a:avLst/>
          </a:prstGeom>
          <a:noFill/>
        </p:spPr>
        <p:txBody>
          <a:bodyPr wrap="none">
            <a:spAutoFit/>
          </a:bodyPr>
          <a:lstStyle/>
          <a:p>
            <a:pPr algn="ctr"/>
            <a:r>
              <a:rPr sz="1900" b="1">
                <a:solidFill>
                  <a:srgbClr val="96BEE1"/>
                </a:solidFill>
                <a:latin typeface="Aptos"/>
              </a:rPr>
              <a:t>→</a:t>
            </a:r>
          </a:p>
        </p:txBody>
      </p:sp>
      <p:sp>
        <p:nvSpPr>
          <p:cNvPr id="17" name="Rounded Rectangle 16"/>
          <p:cNvSpPr/>
          <p:nvPr/>
        </p:nvSpPr>
        <p:spPr>
          <a:xfrm>
            <a:off x="7095744" y="1691640"/>
            <a:ext cx="1417320" cy="141732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88352" y="1975104"/>
            <a:ext cx="828304" cy="738664"/>
          </a:xfrm>
          <a:prstGeom prst="rect">
            <a:avLst/>
          </a:prstGeom>
          <a:noFill/>
        </p:spPr>
        <p:txBody>
          <a:bodyPr wrap="none">
            <a:spAutoFit/>
          </a:bodyPr>
          <a:lstStyle/>
          <a:p>
            <a:pPr algn="l"/>
            <a:r>
              <a:rPr sz="1400" b="1" dirty="0">
                <a:solidFill>
                  <a:srgbClr val="0D1C30"/>
                </a:solidFill>
                <a:latin typeface="Aptos"/>
              </a:rPr>
              <a:t>MERGE </a:t>
            </a:r>
            <a:endParaRPr lang="en-US" sz="1400" b="1" dirty="0">
              <a:solidFill>
                <a:srgbClr val="0D1C30"/>
              </a:solidFill>
              <a:latin typeface="Aptos"/>
            </a:endParaRPr>
          </a:p>
          <a:p>
            <a:pPr algn="l"/>
            <a:r>
              <a:rPr lang="en-US" sz="1400" b="1" dirty="0">
                <a:solidFill>
                  <a:srgbClr val="0D1C30"/>
                </a:solidFill>
                <a:latin typeface="Aptos"/>
              </a:rPr>
              <a:t>       </a:t>
            </a:r>
            <a:r>
              <a:rPr sz="1400" b="1" dirty="0">
                <a:solidFill>
                  <a:srgbClr val="0D1C30"/>
                </a:solidFill>
                <a:latin typeface="Aptos"/>
              </a:rPr>
              <a:t>/</a:t>
            </a:r>
            <a:endParaRPr lang="en-US" sz="1400" b="1" dirty="0">
              <a:solidFill>
                <a:srgbClr val="0D1C30"/>
              </a:solidFill>
              <a:latin typeface="Aptos"/>
            </a:endParaRPr>
          </a:p>
          <a:p>
            <a:pPr algn="l"/>
            <a:r>
              <a:rPr sz="1400" b="1" dirty="0">
                <a:solidFill>
                  <a:srgbClr val="0D1C30"/>
                </a:solidFill>
                <a:latin typeface="Aptos"/>
              </a:rPr>
              <a:t> RELATE</a:t>
            </a:r>
          </a:p>
        </p:txBody>
      </p:sp>
      <p:sp>
        <p:nvSpPr>
          <p:cNvPr id="19" name="TextBox 18"/>
          <p:cNvSpPr txBox="1"/>
          <p:nvPr/>
        </p:nvSpPr>
        <p:spPr>
          <a:xfrm>
            <a:off x="8513064" y="2176272"/>
            <a:ext cx="228600" cy="274320"/>
          </a:xfrm>
          <a:prstGeom prst="rect">
            <a:avLst/>
          </a:prstGeom>
          <a:noFill/>
        </p:spPr>
        <p:txBody>
          <a:bodyPr wrap="none">
            <a:spAutoFit/>
          </a:bodyPr>
          <a:lstStyle/>
          <a:p>
            <a:pPr algn="ctr"/>
            <a:r>
              <a:rPr sz="1900" b="1">
                <a:solidFill>
                  <a:srgbClr val="96BEE1"/>
                </a:solidFill>
                <a:latin typeface="Aptos"/>
              </a:rPr>
              <a:t>→</a:t>
            </a:r>
          </a:p>
        </p:txBody>
      </p:sp>
      <p:sp>
        <p:nvSpPr>
          <p:cNvPr id="20" name="Rounded Rectangle 19"/>
          <p:cNvSpPr/>
          <p:nvPr/>
        </p:nvSpPr>
        <p:spPr>
          <a:xfrm>
            <a:off x="8778240" y="1691640"/>
            <a:ext cx="1417320" cy="141732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51976" y="2203704"/>
            <a:ext cx="1014984" cy="292608"/>
          </a:xfrm>
          <a:prstGeom prst="rect">
            <a:avLst/>
          </a:prstGeom>
          <a:noFill/>
        </p:spPr>
        <p:txBody>
          <a:bodyPr wrap="none">
            <a:spAutoFit/>
          </a:bodyPr>
          <a:lstStyle/>
          <a:p>
            <a:pPr algn="l"/>
            <a:r>
              <a:rPr sz="1400" b="1" dirty="0">
                <a:solidFill>
                  <a:srgbClr val="0D1C30"/>
                </a:solidFill>
                <a:latin typeface="Aptos"/>
              </a:rPr>
              <a:t>CALCULATE</a:t>
            </a:r>
          </a:p>
        </p:txBody>
      </p:sp>
      <p:sp>
        <p:nvSpPr>
          <p:cNvPr id="22" name="TextBox 21"/>
          <p:cNvSpPr txBox="1"/>
          <p:nvPr/>
        </p:nvSpPr>
        <p:spPr>
          <a:xfrm>
            <a:off x="10195560" y="2176272"/>
            <a:ext cx="228600" cy="274320"/>
          </a:xfrm>
          <a:prstGeom prst="rect">
            <a:avLst/>
          </a:prstGeom>
          <a:noFill/>
        </p:spPr>
        <p:txBody>
          <a:bodyPr wrap="none">
            <a:spAutoFit/>
          </a:bodyPr>
          <a:lstStyle/>
          <a:p>
            <a:pPr algn="ctr"/>
            <a:r>
              <a:rPr sz="1900" b="1">
                <a:solidFill>
                  <a:srgbClr val="96BEE1"/>
                </a:solidFill>
                <a:latin typeface="Aptos"/>
              </a:rPr>
              <a:t>→</a:t>
            </a:r>
          </a:p>
        </p:txBody>
      </p:sp>
      <p:sp>
        <p:nvSpPr>
          <p:cNvPr id="23" name="Rounded Rectangle 22"/>
          <p:cNvSpPr/>
          <p:nvPr/>
        </p:nvSpPr>
        <p:spPr>
          <a:xfrm>
            <a:off x="10460736" y="1691640"/>
            <a:ext cx="1417320" cy="141732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616184" y="2194560"/>
            <a:ext cx="1014984" cy="292608"/>
          </a:xfrm>
          <a:prstGeom prst="rect">
            <a:avLst/>
          </a:prstGeom>
          <a:noFill/>
        </p:spPr>
        <p:txBody>
          <a:bodyPr wrap="none">
            <a:spAutoFit/>
          </a:bodyPr>
          <a:lstStyle/>
          <a:p>
            <a:pPr algn="l"/>
            <a:r>
              <a:rPr sz="1400" b="1" dirty="0">
                <a:solidFill>
                  <a:srgbClr val="0D1C30"/>
                </a:solidFill>
                <a:latin typeface="Aptos"/>
              </a:rPr>
              <a:t>DATA MODEL</a:t>
            </a:r>
          </a:p>
        </p:txBody>
      </p:sp>
      <p:sp>
        <p:nvSpPr>
          <p:cNvPr id="25" name="TextBox 24"/>
          <p:cNvSpPr txBox="1"/>
          <p:nvPr/>
        </p:nvSpPr>
        <p:spPr>
          <a:xfrm>
            <a:off x="640080" y="3886200"/>
            <a:ext cx="2743200" cy="365760"/>
          </a:xfrm>
          <a:prstGeom prst="rect">
            <a:avLst/>
          </a:prstGeom>
          <a:noFill/>
        </p:spPr>
        <p:txBody>
          <a:bodyPr wrap="none">
            <a:spAutoFit/>
          </a:bodyPr>
          <a:lstStyle/>
          <a:p>
            <a:pPr algn="l"/>
            <a:r>
              <a:rPr sz="1900" b="1">
                <a:solidFill>
                  <a:srgbClr val="FFFFFF"/>
                </a:solidFill>
                <a:latin typeface="Aptos"/>
              </a:rPr>
              <a:t>Calculated Fields</a:t>
            </a:r>
          </a:p>
        </p:txBody>
      </p:sp>
      <p:sp>
        <p:nvSpPr>
          <p:cNvPr id="26" name="TextBox 25"/>
          <p:cNvSpPr txBox="1"/>
          <p:nvPr/>
        </p:nvSpPr>
        <p:spPr>
          <a:xfrm>
            <a:off x="658368" y="4343400"/>
            <a:ext cx="7129644" cy="600164"/>
          </a:xfrm>
          <a:prstGeom prst="rect">
            <a:avLst/>
          </a:prstGeom>
          <a:noFill/>
        </p:spPr>
        <p:txBody>
          <a:bodyPr wrap="none">
            <a:spAutoFit/>
          </a:bodyPr>
          <a:lstStyle/>
          <a:p>
            <a:pPr algn="l"/>
            <a:r>
              <a:rPr sz="1500" b="0" dirty="0">
                <a:solidFill>
                  <a:srgbClr val="D2DCE6"/>
                </a:solidFill>
                <a:latin typeface="Aptos"/>
              </a:rPr>
              <a:t>Year • Month • Quarter • </a:t>
            </a:r>
            <a:r>
              <a:rPr sz="1500" b="0" dirty="0" err="1">
                <a:solidFill>
                  <a:srgbClr val="D2DCE6"/>
                </a:solidFill>
                <a:latin typeface="Aptos"/>
              </a:rPr>
              <a:t>YearMonth</a:t>
            </a:r>
            <a:r>
              <a:rPr sz="1500" b="0" dirty="0">
                <a:solidFill>
                  <a:srgbClr val="D2DCE6"/>
                </a:solidFill>
                <a:latin typeface="Aptos"/>
              </a:rPr>
              <a:t> • Weekday • Financial Month • Financial Quarter</a:t>
            </a:r>
            <a:br>
              <a:rPr dirty="0"/>
            </a:br>
            <a:r>
              <a:rPr dirty="0">
                <a:solidFill>
                  <a:schemeClr val="bg1"/>
                </a:solidFill>
              </a:rPr>
              <a:t>Sales Amount • Production Cost • Profit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4"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2913618" cy="538609"/>
          </a:xfrm>
          <a:prstGeom prst="rect">
            <a:avLst/>
          </a:prstGeom>
          <a:noFill/>
        </p:spPr>
        <p:txBody>
          <a:bodyPr wrap="none">
            <a:spAutoFit/>
          </a:bodyPr>
          <a:lstStyle/>
          <a:p>
            <a:pPr algn="l"/>
            <a:r>
              <a:rPr sz="2900" b="1" dirty="0">
                <a:solidFill>
                  <a:srgbClr val="FFFFFF"/>
                </a:solidFill>
                <a:latin typeface="Aptos"/>
              </a:rPr>
              <a:t>0</a:t>
            </a:r>
            <a:r>
              <a:rPr lang="en-US" sz="2900" b="1" dirty="0">
                <a:solidFill>
                  <a:srgbClr val="FFFFFF"/>
                </a:solidFill>
                <a:latin typeface="Aptos"/>
              </a:rPr>
              <a:t>5</a:t>
            </a:r>
            <a:r>
              <a:rPr sz="2900" b="1" dirty="0">
                <a:solidFill>
                  <a:srgbClr val="FFFFFF"/>
                </a:solidFill>
                <a:latin typeface="Aptos"/>
              </a:rPr>
              <a:t>  |  Data Model</a:t>
            </a:r>
          </a:p>
        </p:txBody>
      </p:sp>
      <p:sp>
        <p:nvSpPr>
          <p:cNvPr id="4" name="TextBox 3"/>
          <p:cNvSpPr txBox="1"/>
          <p:nvPr/>
        </p:nvSpPr>
        <p:spPr>
          <a:xfrm>
            <a:off x="594360" y="859536"/>
            <a:ext cx="10972800" cy="320040"/>
          </a:xfrm>
          <a:prstGeom prst="rect">
            <a:avLst/>
          </a:prstGeom>
          <a:noFill/>
        </p:spPr>
        <p:txBody>
          <a:bodyPr wrap="none">
            <a:spAutoFit/>
          </a:bodyPr>
          <a:lstStyle/>
          <a:p>
            <a:pPr algn="l"/>
            <a:r>
              <a:rPr sz="1300" b="0">
                <a:solidFill>
                  <a:srgbClr val="BECDDC"/>
                </a:solidFill>
                <a:latin typeface="Aptos"/>
              </a:rPr>
              <a:t>Star-style model connecting facts with dimensions</a:t>
            </a:r>
          </a:p>
        </p:txBody>
      </p:sp>
      <p:sp>
        <p:nvSpPr>
          <p:cNvPr id="5" name="Rounded Rectangle 4"/>
          <p:cNvSpPr/>
          <p:nvPr/>
        </p:nvSpPr>
        <p:spPr>
          <a:xfrm>
            <a:off x="4517136" y="2752344"/>
            <a:ext cx="3017520" cy="141732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65776" y="2962656"/>
            <a:ext cx="2615184" cy="292608"/>
          </a:xfrm>
          <a:prstGeom prst="rect">
            <a:avLst/>
          </a:prstGeom>
          <a:noFill/>
        </p:spPr>
        <p:txBody>
          <a:bodyPr wrap="none">
            <a:spAutoFit/>
          </a:bodyPr>
          <a:lstStyle/>
          <a:p>
            <a:pPr algn="l"/>
            <a:r>
              <a:rPr sz="1400" b="1" dirty="0">
                <a:solidFill>
                  <a:srgbClr val="0D1C30"/>
                </a:solidFill>
                <a:latin typeface="Aptos"/>
              </a:rPr>
              <a:t>FACT INTERNET SALES</a:t>
            </a:r>
          </a:p>
        </p:txBody>
      </p:sp>
      <p:sp>
        <p:nvSpPr>
          <p:cNvPr id="8" name="Rounded Rectangle 7"/>
          <p:cNvSpPr/>
          <p:nvPr/>
        </p:nvSpPr>
        <p:spPr>
          <a:xfrm>
            <a:off x="1005840" y="1453895"/>
            <a:ext cx="2157984" cy="946405"/>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1591055"/>
            <a:ext cx="1517904" cy="307777"/>
          </a:xfrm>
          <a:prstGeom prst="rect">
            <a:avLst/>
          </a:prstGeom>
          <a:noFill/>
        </p:spPr>
        <p:txBody>
          <a:bodyPr wrap="square">
            <a:spAutoFit/>
          </a:bodyPr>
          <a:lstStyle/>
          <a:p>
            <a:pPr algn="l"/>
            <a:r>
              <a:rPr sz="1400" b="1">
                <a:solidFill>
                  <a:srgbClr val="0D1C30"/>
                </a:solidFill>
                <a:latin typeface="Aptos"/>
              </a:rPr>
              <a:t>DIM DATE</a:t>
            </a:r>
          </a:p>
        </p:txBody>
      </p:sp>
      <p:sp>
        <p:nvSpPr>
          <p:cNvPr id="10" name="TextBox 9"/>
          <p:cNvSpPr txBox="1"/>
          <p:nvPr/>
        </p:nvSpPr>
        <p:spPr>
          <a:xfrm>
            <a:off x="1325880" y="1929385"/>
            <a:ext cx="1517904" cy="276999"/>
          </a:xfrm>
          <a:prstGeom prst="rect">
            <a:avLst/>
          </a:prstGeom>
          <a:noFill/>
        </p:spPr>
        <p:txBody>
          <a:bodyPr wrap="square">
            <a:spAutoFit/>
          </a:bodyPr>
          <a:lstStyle/>
          <a:p>
            <a:pPr algn="l"/>
            <a:r>
              <a:rPr sz="1200" b="0">
                <a:solidFill>
                  <a:srgbClr val="5F6973"/>
                </a:solidFill>
                <a:latin typeface="Aptos"/>
              </a:rPr>
              <a:t>DateKey</a:t>
            </a:r>
          </a:p>
        </p:txBody>
      </p:sp>
      <p:sp>
        <p:nvSpPr>
          <p:cNvPr id="11" name="Rounded Rectangle 10"/>
          <p:cNvSpPr/>
          <p:nvPr/>
        </p:nvSpPr>
        <p:spPr>
          <a:xfrm>
            <a:off x="8778240" y="1453894"/>
            <a:ext cx="1993392" cy="946405"/>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17621" y="1544210"/>
            <a:ext cx="1680144" cy="307777"/>
          </a:xfrm>
          <a:prstGeom prst="rect">
            <a:avLst/>
          </a:prstGeom>
          <a:noFill/>
        </p:spPr>
        <p:txBody>
          <a:bodyPr wrap="square">
            <a:spAutoFit/>
          </a:bodyPr>
          <a:lstStyle/>
          <a:p>
            <a:pPr algn="l"/>
            <a:r>
              <a:rPr sz="1400" b="1" dirty="0">
                <a:solidFill>
                  <a:srgbClr val="0D1C30"/>
                </a:solidFill>
                <a:latin typeface="Aptos"/>
              </a:rPr>
              <a:t>DIM PRODUCT</a:t>
            </a:r>
          </a:p>
        </p:txBody>
      </p:sp>
      <p:sp>
        <p:nvSpPr>
          <p:cNvPr id="13" name="TextBox 12"/>
          <p:cNvSpPr txBox="1"/>
          <p:nvPr/>
        </p:nvSpPr>
        <p:spPr>
          <a:xfrm>
            <a:off x="8917621" y="1939936"/>
            <a:ext cx="1680144" cy="276999"/>
          </a:xfrm>
          <a:prstGeom prst="rect">
            <a:avLst/>
          </a:prstGeom>
          <a:noFill/>
        </p:spPr>
        <p:txBody>
          <a:bodyPr wrap="square">
            <a:spAutoFit/>
          </a:bodyPr>
          <a:lstStyle/>
          <a:p>
            <a:pPr algn="l"/>
            <a:r>
              <a:rPr sz="1200" b="0" dirty="0" err="1">
                <a:solidFill>
                  <a:srgbClr val="5F6973"/>
                </a:solidFill>
                <a:latin typeface="Aptos"/>
              </a:rPr>
              <a:t>ProductKey</a:t>
            </a:r>
            <a:endParaRPr sz="1200" b="0" dirty="0">
              <a:solidFill>
                <a:srgbClr val="5F6973"/>
              </a:solidFill>
              <a:latin typeface="Aptos"/>
            </a:endParaRPr>
          </a:p>
        </p:txBody>
      </p:sp>
      <p:sp>
        <p:nvSpPr>
          <p:cNvPr id="14" name="Rounded Rectangle 13"/>
          <p:cNvSpPr/>
          <p:nvPr/>
        </p:nvSpPr>
        <p:spPr>
          <a:xfrm>
            <a:off x="1005840" y="2971800"/>
            <a:ext cx="2157984" cy="996696"/>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07592" y="3118104"/>
            <a:ext cx="2157984" cy="292608"/>
          </a:xfrm>
          <a:prstGeom prst="rect">
            <a:avLst/>
          </a:prstGeom>
          <a:noFill/>
        </p:spPr>
        <p:txBody>
          <a:bodyPr wrap="none">
            <a:spAutoFit/>
          </a:bodyPr>
          <a:lstStyle/>
          <a:p>
            <a:pPr algn="l"/>
            <a:r>
              <a:rPr sz="1400" b="1" dirty="0">
                <a:solidFill>
                  <a:srgbClr val="0D1C30"/>
                </a:solidFill>
                <a:latin typeface="Aptos"/>
              </a:rPr>
              <a:t>DIM CUSTOMER</a:t>
            </a:r>
          </a:p>
        </p:txBody>
      </p:sp>
      <p:sp>
        <p:nvSpPr>
          <p:cNvPr id="16" name="TextBox 15"/>
          <p:cNvSpPr txBox="1"/>
          <p:nvPr/>
        </p:nvSpPr>
        <p:spPr>
          <a:xfrm>
            <a:off x="1307592" y="3520440"/>
            <a:ext cx="2157984" cy="502920"/>
          </a:xfrm>
          <a:prstGeom prst="rect">
            <a:avLst/>
          </a:prstGeom>
          <a:noFill/>
        </p:spPr>
        <p:txBody>
          <a:bodyPr wrap="none">
            <a:spAutoFit/>
          </a:bodyPr>
          <a:lstStyle/>
          <a:p>
            <a:pPr algn="l"/>
            <a:r>
              <a:rPr sz="1200" b="0" dirty="0" err="1">
                <a:solidFill>
                  <a:srgbClr val="5F6973"/>
                </a:solidFill>
                <a:latin typeface="Aptos"/>
              </a:rPr>
              <a:t>CustomerKey</a:t>
            </a:r>
            <a:endParaRPr sz="1200" b="0" dirty="0">
              <a:solidFill>
                <a:srgbClr val="5F6973"/>
              </a:solidFill>
              <a:latin typeface="Aptos"/>
            </a:endParaRPr>
          </a:p>
        </p:txBody>
      </p:sp>
      <p:sp>
        <p:nvSpPr>
          <p:cNvPr id="17" name="Rounded Rectangle 16"/>
          <p:cNvSpPr/>
          <p:nvPr/>
        </p:nvSpPr>
        <p:spPr>
          <a:xfrm>
            <a:off x="1005840" y="4530852"/>
            <a:ext cx="2157984" cy="1065276"/>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52144" y="4681728"/>
            <a:ext cx="2157984" cy="292608"/>
          </a:xfrm>
          <a:prstGeom prst="rect">
            <a:avLst/>
          </a:prstGeom>
          <a:noFill/>
        </p:spPr>
        <p:txBody>
          <a:bodyPr wrap="none">
            <a:spAutoFit/>
          </a:bodyPr>
          <a:lstStyle/>
          <a:p>
            <a:pPr algn="l"/>
            <a:r>
              <a:rPr sz="1400" b="1" dirty="0">
                <a:solidFill>
                  <a:srgbClr val="0D1C30"/>
                </a:solidFill>
                <a:latin typeface="Aptos"/>
              </a:rPr>
              <a:t>DIM SALES TERRITORY</a:t>
            </a:r>
          </a:p>
        </p:txBody>
      </p:sp>
      <p:sp>
        <p:nvSpPr>
          <p:cNvPr id="19" name="TextBox 18"/>
          <p:cNvSpPr txBox="1"/>
          <p:nvPr/>
        </p:nvSpPr>
        <p:spPr>
          <a:xfrm>
            <a:off x="1307592" y="5084064"/>
            <a:ext cx="1700784" cy="288036"/>
          </a:xfrm>
          <a:prstGeom prst="rect">
            <a:avLst/>
          </a:prstGeom>
          <a:noFill/>
        </p:spPr>
        <p:txBody>
          <a:bodyPr wrap="square">
            <a:spAutoFit/>
          </a:bodyPr>
          <a:lstStyle/>
          <a:p>
            <a:pPr algn="l"/>
            <a:r>
              <a:rPr sz="1200" b="0">
                <a:solidFill>
                  <a:srgbClr val="5F6973"/>
                </a:solidFill>
                <a:latin typeface="Aptos"/>
              </a:rPr>
              <a:t>SalesTerritoryKey</a:t>
            </a:r>
          </a:p>
        </p:txBody>
      </p:sp>
      <p:sp>
        <p:nvSpPr>
          <p:cNvPr id="23" name="TextBox 22">
            <a:extLst>
              <a:ext uri="{FF2B5EF4-FFF2-40B4-BE49-F238E27FC236}">
                <a16:creationId xmlns:a16="http://schemas.microsoft.com/office/drawing/2014/main" id="{89EE3542-A8D2-A9DF-82DF-5E9B9D92C279}"/>
              </a:ext>
            </a:extLst>
          </p:cNvPr>
          <p:cNvSpPr txBox="1"/>
          <p:nvPr/>
        </p:nvSpPr>
        <p:spPr>
          <a:xfrm>
            <a:off x="4892040" y="3648456"/>
            <a:ext cx="2442335" cy="307777"/>
          </a:xfrm>
          <a:prstGeom prst="rect">
            <a:avLst/>
          </a:prstGeom>
          <a:noFill/>
        </p:spPr>
        <p:txBody>
          <a:bodyPr wrap="none">
            <a:spAutoFit/>
          </a:bodyPr>
          <a:lstStyle/>
          <a:p>
            <a:pPr algn="l"/>
            <a:r>
              <a:rPr sz="1400" b="1" dirty="0">
                <a:solidFill>
                  <a:srgbClr val="0D1C30"/>
                </a:solidFill>
                <a:latin typeface="Aptos"/>
              </a:rPr>
              <a:t>FACT INTERNET SALES</a:t>
            </a:r>
            <a:r>
              <a:rPr lang="en-US" sz="1400" b="1" dirty="0">
                <a:solidFill>
                  <a:srgbClr val="0D1C30"/>
                </a:solidFill>
                <a:latin typeface="Aptos"/>
              </a:rPr>
              <a:t> NEW</a:t>
            </a:r>
            <a:endParaRPr sz="1400" b="1" dirty="0">
              <a:solidFill>
                <a:srgbClr val="0D1C30"/>
              </a:solidFill>
              <a:latin typeface="Aptos"/>
            </a:endParaRPr>
          </a:p>
        </p:txBody>
      </p:sp>
      <p:pic>
        <p:nvPicPr>
          <p:cNvPr id="25" name="Graphic 24" descr="Close with solid fill">
            <a:extLst>
              <a:ext uri="{FF2B5EF4-FFF2-40B4-BE49-F238E27FC236}">
                <a16:creationId xmlns:a16="http://schemas.microsoft.com/office/drawing/2014/main" id="{332F2519-05AD-0C84-A787-31CAC5658C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685939">
            <a:off x="5876787" y="3261969"/>
            <a:ext cx="343206" cy="343206"/>
          </a:xfrm>
          <a:prstGeom prst="rect">
            <a:avLst/>
          </a:prstGeom>
        </p:spPr>
      </p:pic>
      <p:sp>
        <p:nvSpPr>
          <p:cNvPr id="27" name="Rounded Rectangle 10">
            <a:extLst>
              <a:ext uri="{FF2B5EF4-FFF2-40B4-BE49-F238E27FC236}">
                <a16:creationId xmlns:a16="http://schemas.microsoft.com/office/drawing/2014/main" id="{23ABF37D-B1A3-AB64-41A4-C35050B3E66B}"/>
              </a:ext>
            </a:extLst>
          </p:cNvPr>
          <p:cNvSpPr/>
          <p:nvPr/>
        </p:nvSpPr>
        <p:spPr>
          <a:xfrm>
            <a:off x="8778240" y="3012947"/>
            <a:ext cx="1993392" cy="946405"/>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A47ECA57-E83E-6E11-63C1-C929704114B9}"/>
              </a:ext>
            </a:extLst>
          </p:cNvPr>
          <p:cNvSpPr txBox="1"/>
          <p:nvPr/>
        </p:nvSpPr>
        <p:spPr>
          <a:xfrm>
            <a:off x="8850564" y="3086498"/>
            <a:ext cx="2326451" cy="307777"/>
          </a:xfrm>
          <a:prstGeom prst="rect">
            <a:avLst/>
          </a:prstGeom>
          <a:noFill/>
        </p:spPr>
        <p:txBody>
          <a:bodyPr wrap="square">
            <a:spAutoFit/>
          </a:bodyPr>
          <a:lstStyle/>
          <a:p>
            <a:pPr algn="l"/>
            <a:r>
              <a:rPr sz="1400" b="1" dirty="0">
                <a:solidFill>
                  <a:srgbClr val="0D1C30"/>
                </a:solidFill>
                <a:latin typeface="Aptos"/>
              </a:rPr>
              <a:t>DIM </a:t>
            </a:r>
            <a:r>
              <a:rPr lang="en-US" sz="1400" b="1" dirty="0">
                <a:solidFill>
                  <a:srgbClr val="0D1C30"/>
                </a:solidFill>
                <a:latin typeface="Aptos"/>
              </a:rPr>
              <a:t>SUBCATEGORY</a:t>
            </a:r>
            <a:endParaRPr sz="1400" b="1" dirty="0">
              <a:solidFill>
                <a:srgbClr val="0D1C30"/>
              </a:solidFill>
              <a:latin typeface="Aptos"/>
            </a:endParaRPr>
          </a:p>
        </p:txBody>
      </p:sp>
      <p:sp>
        <p:nvSpPr>
          <p:cNvPr id="34" name="TextBox 33">
            <a:extLst>
              <a:ext uri="{FF2B5EF4-FFF2-40B4-BE49-F238E27FC236}">
                <a16:creationId xmlns:a16="http://schemas.microsoft.com/office/drawing/2014/main" id="{F30C9641-B29F-DF24-0425-1155EBD24C92}"/>
              </a:ext>
            </a:extLst>
          </p:cNvPr>
          <p:cNvSpPr txBox="1"/>
          <p:nvPr/>
        </p:nvSpPr>
        <p:spPr>
          <a:xfrm>
            <a:off x="8859708" y="3500513"/>
            <a:ext cx="1875347" cy="276999"/>
          </a:xfrm>
          <a:prstGeom prst="rect">
            <a:avLst/>
          </a:prstGeom>
          <a:noFill/>
        </p:spPr>
        <p:txBody>
          <a:bodyPr wrap="square">
            <a:spAutoFit/>
          </a:bodyPr>
          <a:lstStyle/>
          <a:p>
            <a:pPr algn="l"/>
            <a:r>
              <a:rPr sz="1200" b="0" dirty="0" err="1">
                <a:solidFill>
                  <a:srgbClr val="5F6973"/>
                </a:solidFill>
                <a:latin typeface="Aptos"/>
              </a:rPr>
              <a:t>Product</a:t>
            </a:r>
            <a:r>
              <a:rPr lang="en-US" sz="1200" b="0" dirty="0" err="1">
                <a:solidFill>
                  <a:srgbClr val="5F6973"/>
                </a:solidFill>
                <a:latin typeface="Aptos"/>
              </a:rPr>
              <a:t>SubCategory</a:t>
            </a:r>
            <a:r>
              <a:rPr sz="1200" b="0" dirty="0" err="1">
                <a:solidFill>
                  <a:srgbClr val="5F6973"/>
                </a:solidFill>
                <a:latin typeface="Aptos"/>
              </a:rPr>
              <a:t>Key</a:t>
            </a:r>
            <a:endParaRPr sz="1200" b="0" dirty="0">
              <a:solidFill>
                <a:srgbClr val="5F6973"/>
              </a:solidFill>
              <a:latin typeface="Aptos"/>
            </a:endParaRPr>
          </a:p>
        </p:txBody>
      </p:sp>
      <p:sp>
        <p:nvSpPr>
          <p:cNvPr id="36" name="Rounded Rectangle 10">
            <a:extLst>
              <a:ext uri="{FF2B5EF4-FFF2-40B4-BE49-F238E27FC236}">
                <a16:creationId xmlns:a16="http://schemas.microsoft.com/office/drawing/2014/main" id="{B06F4BB8-A48E-A531-9D31-9364951C5CA7}"/>
              </a:ext>
            </a:extLst>
          </p:cNvPr>
          <p:cNvSpPr/>
          <p:nvPr/>
        </p:nvSpPr>
        <p:spPr>
          <a:xfrm>
            <a:off x="8784336" y="4559806"/>
            <a:ext cx="1993392" cy="946405"/>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33BAB55E-720B-6B07-4C25-C5004803DEB3}"/>
              </a:ext>
            </a:extLst>
          </p:cNvPr>
          <p:cNvSpPr txBox="1"/>
          <p:nvPr/>
        </p:nvSpPr>
        <p:spPr>
          <a:xfrm>
            <a:off x="8923717" y="4650122"/>
            <a:ext cx="1680144" cy="307777"/>
          </a:xfrm>
          <a:prstGeom prst="rect">
            <a:avLst/>
          </a:prstGeom>
          <a:noFill/>
        </p:spPr>
        <p:txBody>
          <a:bodyPr wrap="square">
            <a:spAutoFit/>
          </a:bodyPr>
          <a:lstStyle/>
          <a:p>
            <a:pPr algn="l"/>
            <a:r>
              <a:rPr sz="1400" b="1" dirty="0">
                <a:solidFill>
                  <a:srgbClr val="0D1C30"/>
                </a:solidFill>
                <a:latin typeface="Aptos"/>
              </a:rPr>
              <a:t>DIM</a:t>
            </a:r>
            <a:r>
              <a:rPr lang="en-US" sz="1400" b="1" dirty="0">
                <a:solidFill>
                  <a:srgbClr val="0D1C30"/>
                </a:solidFill>
                <a:latin typeface="Aptos"/>
              </a:rPr>
              <a:t> CATEGORY</a:t>
            </a:r>
            <a:endParaRPr sz="1400" b="1" dirty="0">
              <a:solidFill>
                <a:srgbClr val="0D1C30"/>
              </a:solidFill>
              <a:latin typeface="Aptos"/>
            </a:endParaRPr>
          </a:p>
        </p:txBody>
      </p:sp>
      <p:sp>
        <p:nvSpPr>
          <p:cNvPr id="40" name="TextBox 39">
            <a:extLst>
              <a:ext uri="{FF2B5EF4-FFF2-40B4-BE49-F238E27FC236}">
                <a16:creationId xmlns:a16="http://schemas.microsoft.com/office/drawing/2014/main" id="{B3730148-F83C-ABE2-A462-62B4A0FA0469}"/>
              </a:ext>
            </a:extLst>
          </p:cNvPr>
          <p:cNvSpPr txBox="1"/>
          <p:nvPr/>
        </p:nvSpPr>
        <p:spPr>
          <a:xfrm>
            <a:off x="8923717" y="5045848"/>
            <a:ext cx="1680144" cy="276999"/>
          </a:xfrm>
          <a:prstGeom prst="rect">
            <a:avLst/>
          </a:prstGeom>
          <a:noFill/>
        </p:spPr>
        <p:txBody>
          <a:bodyPr wrap="square">
            <a:spAutoFit/>
          </a:bodyPr>
          <a:lstStyle/>
          <a:p>
            <a:pPr algn="l"/>
            <a:r>
              <a:rPr sz="1200" b="0" dirty="0" err="1">
                <a:solidFill>
                  <a:srgbClr val="5F6973"/>
                </a:solidFill>
                <a:latin typeface="Aptos"/>
              </a:rPr>
              <a:t>Product</a:t>
            </a:r>
            <a:r>
              <a:rPr lang="en-US" sz="1200" b="0" dirty="0" err="1">
                <a:solidFill>
                  <a:srgbClr val="5F6973"/>
                </a:solidFill>
                <a:latin typeface="Aptos"/>
              </a:rPr>
              <a:t>Category</a:t>
            </a:r>
            <a:r>
              <a:rPr sz="1200" b="0" dirty="0" err="1">
                <a:solidFill>
                  <a:srgbClr val="5F6973"/>
                </a:solidFill>
                <a:latin typeface="Aptos"/>
              </a:rPr>
              <a:t>Key</a:t>
            </a:r>
            <a:endParaRPr sz="1200" b="0" dirty="0">
              <a:solidFill>
                <a:srgbClr val="5F6973"/>
              </a:solidFill>
              <a:latin typeface="Aptos"/>
            </a:endParaRPr>
          </a:p>
        </p:txBody>
      </p:sp>
      <p:cxnSp>
        <p:nvCxnSpPr>
          <p:cNvPr id="42" name="Connector: Elbow 41">
            <a:extLst>
              <a:ext uri="{FF2B5EF4-FFF2-40B4-BE49-F238E27FC236}">
                <a16:creationId xmlns:a16="http://schemas.microsoft.com/office/drawing/2014/main" id="{534F051F-3262-1D53-6D0A-A17F53A27474}"/>
              </a:ext>
            </a:extLst>
          </p:cNvPr>
          <p:cNvCxnSpPr>
            <a:cxnSpLocks/>
            <a:stCxn id="8" idx="3"/>
            <a:endCxn id="5" idx="0"/>
          </p:cNvCxnSpPr>
          <p:nvPr/>
        </p:nvCxnSpPr>
        <p:spPr>
          <a:xfrm>
            <a:off x="3163824" y="1927098"/>
            <a:ext cx="2862072" cy="825246"/>
          </a:xfrm>
          <a:prstGeom prst="bent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7" name="Connector: Elbow 46">
            <a:extLst>
              <a:ext uri="{FF2B5EF4-FFF2-40B4-BE49-F238E27FC236}">
                <a16:creationId xmlns:a16="http://schemas.microsoft.com/office/drawing/2014/main" id="{357C12E6-EC4F-ED06-2DC6-AC422D8DC323}"/>
              </a:ext>
            </a:extLst>
          </p:cNvPr>
          <p:cNvCxnSpPr>
            <a:cxnSpLocks/>
            <a:stCxn id="14" idx="3"/>
            <a:endCxn id="5" idx="1"/>
          </p:cNvCxnSpPr>
          <p:nvPr/>
        </p:nvCxnSpPr>
        <p:spPr>
          <a:xfrm flipV="1">
            <a:off x="3163824" y="3461004"/>
            <a:ext cx="1353312" cy="9144"/>
          </a:xfrm>
          <a:prstGeom prst="bent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8" name="Connector: Elbow 47">
            <a:extLst>
              <a:ext uri="{FF2B5EF4-FFF2-40B4-BE49-F238E27FC236}">
                <a16:creationId xmlns:a16="http://schemas.microsoft.com/office/drawing/2014/main" id="{8DE71925-64C4-8C02-51AC-8E238045D61C}"/>
              </a:ext>
            </a:extLst>
          </p:cNvPr>
          <p:cNvCxnSpPr>
            <a:cxnSpLocks/>
            <a:stCxn id="17" idx="3"/>
            <a:endCxn id="5" idx="2"/>
          </p:cNvCxnSpPr>
          <p:nvPr/>
        </p:nvCxnSpPr>
        <p:spPr>
          <a:xfrm flipV="1">
            <a:off x="3163824" y="4169664"/>
            <a:ext cx="2862072" cy="893826"/>
          </a:xfrm>
          <a:prstGeom prst="bent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0" name="Connector: Elbow 59">
            <a:extLst>
              <a:ext uri="{FF2B5EF4-FFF2-40B4-BE49-F238E27FC236}">
                <a16:creationId xmlns:a16="http://schemas.microsoft.com/office/drawing/2014/main" id="{1ED5D35C-2717-3542-F749-CC035EEF8415}"/>
              </a:ext>
            </a:extLst>
          </p:cNvPr>
          <p:cNvCxnSpPr>
            <a:cxnSpLocks/>
            <a:stCxn id="11" idx="1"/>
            <a:endCxn id="5" idx="3"/>
          </p:cNvCxnSpPr>
          <p:nvPr/>
        </p:nvCxnSpPr>
        <p:spPr>
          <a:xfrm rot="10800000" flipV="1">
            <a:off x="7534656" y="1927096"/>
            <a:ext cx="1243584" cy="1533907"/>
          </a:xfrm>
          <a:prstGeom prst="bent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611FF056-F284-2D62-30A6-90552D2ECC42}"/>
              </a:ext>
            </a:extLst>
          </p:cNvPr>
          <p:cNvCxnSpPr>
            <a:cxnSpLocks/>
            <a:stCxn id="11" idx="2"/>
            <a:endCxn id="27" idx="0"/>
          </p:cNvCxnSpPr>
          <p:nvPr/>
        </p:nvCxnSpPr>
        <p:spPr>
          <a:xfrm>
            <a:off x="9774936" y="2400299"/>
            <a:ext cx="0" cy="61264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E6540B0B-2A5C-FFF2-0F18-FA05B9BA6E5C}"/>
              </a:ext>
            </a:extLst>
          </p:cNvPr>
          <p:cNvCxnSpPr>
            <a:cxnSpLocks/>
            <a:stCxn id="27" idx="2"/>
            <a:endCxn id="36" idx="0"/>
          </p:cNvCxnSpPr>
          <p:nvPr/>
        </p:nvCxnSpPr>
        <p:spPr>
          <a:xfrm>
            <a:off x="9774936" y="3959352"/>
            <a:ext cx="6096" cy="60045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71D4C-646D-0627-3459-B9C11DB5F08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9573358-F62F-3C52-09AD-FAE8BEB9B133}"/>
              </a:ext>
            </a:extLst>
          </p:cNvPr>
          <p:cNvSpPr/>
          <p:nvPr/>
        </p:nvSpPr>
        <p:spPr>
          <a:xfrm>
            <a:off x="-1"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a:extLst>
              <a:ext uri="{FF2B5EF4-FFF2-40B4-BE49-F238E27FC236}">
                <a16:creationId xmlns:a16="http://schemas.microsoft.com/office/drawing/2014/main" id="{28861EBD-6F92-96D6-FD03-CBA2E6F0998F}"/>
              </a:ext>
            </a:extLst>
          </p:cNvPr>
          <p:cNvSpPr txBox="1"/>
          <p:nvPr/>
        </p:nvSpPr>
        <p:spPr>
          <a:xfrm>
            <a:off x="594360" y="384048"/>
            <a:ext cx="1833579" cy="538609"/>
          </a:xfrm>
          <a:prstGeom prst="rect">
            <a:avLst/>
          </a:prstGeom>
          <a:noFill/>
        </p:spPr>
        <p:txBody>
          <a:bodyPr wrap="none">
            <a:spAutoFit/>
          </a:bodyPr>
          <a:lstStyle/>
          <a:p>
            <a:pPr algn="l"/>
            <a:r>
              <a:rPr lang="en-US" sz="2900" b="1" dirty="0">
                <a:solidFill>
                  <a:srgbClr val="FFFFFF"/>
                </a:solidFill>
                <a:latin typeface="Aptos"/>
              </a:rPr>
              <a:t>06 </a:t>
            </a:r>
            <a:r>
              <a:rPr sz="2900" b="1" dirty="0">
                <a:solidFill>
                  <a:srgbClr val="FFFFFF"/>
                </a:solidFill>
                <a:latin typeface="Aptos"/>
              </a:rPr>
              <a:t>|  </a:t>
            </a:r>
            <a:r>
              <a:rPr lang="en-US" sz="2900" b="1" dirty="0">
                <a:solidFill>
                  <a:srgbClr val="FFFFFF"/>
                </a:solidFill>
                <a:latin typeface="Aptos"/>
              </a:rPr>
              <a:t>KPI’s </a:t>
            </a:r>
            <a:endParaRPr sz="2900" b="1" dirty="0">
              <a:solidFill>
                <a:srgbClr val="FFFFFF"/>
              </a:solidFill>
              <a:latin typeface="Aptos"/>
            </a:endParaRPr>
          </a:p>
        </p:txBody>
      </p:sp>
      <p:sp>
        <p:nvSpPr>
          <p:cNvPr id="9" name="Text 4">
            <a:extLst>
              <a:ext uri="{FF2B5EF4-FFF2-40B4-BE49-F238E27FC236}">
                <a16:creationId xmlns:a16="http://schemas.microsoft.com/office/drawing/2014/main" id="{648BA6ED-4B22-63C0-C2B2-ACA31EAA0052}"/>
              </a:ext>
            </a:extLst>
          </p:cNvPr>
          <p:cNvSpPr/>
          <p:nvPr/>
        </p:nvSpPr>
        <p:spPr>
          <a:xfrm>
            <a:off x="548640" y="3566160"/>
            <a:ext cx="3566160" cy="822960"/>
          </a:xfrm>
          <a:prstGeom prst="rect">
            <a:avLst/>
          </a:prstGeom>
          <a:noFill/>
          <a:ln/>
        </p:spPr>
        <p:txBody>
          <a:bodyPr wrap="square" rtlCol="0" anchor="ctr"/>
          <a:lstStyle/>
          <a:p>
            <a:pPr marL="0" indent="0" algn="ctr">
              <a:buNone/>
            </a:pPr>
            <a:endParaRPr lang="en-US" sz="2800" dirty="0"/>
          </a:p>
        </p:txBody>
      </p:sp>
      <p:sp>
        <p:nvSpPr>
          <p:cNvPr id="15" name="Text 7">
            <a:extLst>
              <a:ext uri="{FF2B5EF4-FFF2-40B4-BE49-F238E27FC236}">
                <a16:creationId xmlns:a16="http://schemas.microsoft.com/office/drawing/2014/main" id="{E762CE66-E9E2-7EDA-8AAA-85639955E776}"/>
              </a:ext>
            </a:extLst>
          </p:cNvPr>
          <p:cNvSpPr/>
          <p:nvPr/>
        </p:nvSpPr>
        <p:spPr>
          <a:xfrm>
            <a:off x="3566160" y="1641574"/>
            <a:ext cx="3566160" cy="822960"/>
          </a:xfrm>
          <a:prstGeom prst="rect">
            <a:avLst/>
          </a:prstGeom>
          <a:noFill/>
          <a:ln/>
        </p:spPr>
        <p:txBody>
          <a:bodyPr wrap="square" rtlCol="0" anchor="ctr"/>
          <a:lstStyle/>
          <a:p>
            <a:pPr algn="ctr"/>
            <a:r>
              <a:rPr lang="en-US" sz="2800" b="1" dirty="0">
                <a:solidFill>
                  <a:srgbClr val="FFFFFF"/>
                </a:solidFill>
                <a:latin typeface="Arial" pitchFamily="34" charset="0"/>
                <a:ea typeface="Arial" pitchFamily="34" charset="-122"/>
                <a:cs typeface="Arial" pitchFamily="34" charset="-120"/>
              </a:rPr>
              <a:t>₹12.08M</a:t>
            </a:r>
            <a:endParaRPr lang="en-US" sz="2800" dirty="0"/>
          </a:p>
        </p:txBody>
      </p:sp>
      <p:sp>
        <p:nvSpPr>
          <p:cNvPr id="21" name="Text 10">
            <a:extLst>
              <a:ext uri="{FF2B5EF4-FFF2-40B4-BE49-F238E27FC236}">
                <a16:creationId xmlns:a16="http://schemas.microsoft.com/office/drawing/2014/main" id="{8A794033-86EF-EECB-2258-8625E3D546B1}"/>
              </a:ext>
            </a:extLst>
          </p:cNvPr>
          <p:cNvSpPr/>
          <p:nvPr/>
        </p:nvSpPr>
        <p:spPr>
          <a:xfrm>
            <a:off x="0" y="3738580"/>
            <a:ext cx="3566160" cy="82296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60,398</a:t>
            </a:r>
            <a:endParaRPr lang="en-US" sz="2800" dirty="0"/>
          </a:p>
        </p:txBody>
      </p:sp>
      <p:sp>
        <p:nvSpPr>
          <p:cNvPr id="28" name="Text 13">
            <a:extLst>
              <a:ext uri="{FF2B5EF4-FFF2-40B4-BE49-F238E27FC236}">
                <a16:creationId xmlns:a16="http://schemas.microsoft.com/office/drawing/2014/main" id="{744C1559-F322-9F99-740D-18F3ABABC375}"/>
              </a:ext>
            </a:extLst>
          </p:cNvPr>
          <p:cNvSpPr/>
          <p:nvPr/>
        </p:nvSpPr>
        <p:spPr>
          <a:xfrm>
            <a:off x="3712464" y="3738580"/>
            <a:ext cx="3566160" cy="82296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18,484</a:t>
            </a:r>
            <a:endParaRPr lang="en-US" sz="2800" dirty="0"/>
          </a:p>
        </p:txBody>
      </p:sp>
      <p:sp>
        <p:nvSpPr>
          <p:cNvPr id="34" name="Text 16">
            <a:extLst>
              <a:ext uri="{FF2B5EF4-FFF2-40B4-BE49-F238E27FC236}">
                <a16:creationId xmlns:a16="http://schemas.microsoft.com/office/drawing/2014/main" id="{F1D0C408-DB97-5073-5643-BF9A4899C2F7}"/>
              </a:ext>
            </a:extLst>
          </p:cNvPr>
          <p:cNvSpPr/>
          <p:nvPr/>
        </p:nvSpPr>
        <p:spPr>
          <a:xfrm>
            <a:off x="7424928" y="3738580"/>
            <a:ext cx="3566160" cy="82296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41.15%</a:t>
            </a:r>
            <a:endParaRPr lang="en-US" sz="2800" dirty="0"/>
          </a:p>
        </p:txBody>
      </p:sp>
      <p:sp>
        <p:nvSpPr>
          <p:cNvPr id="40" name="Text 19">
            <a:extLst>
              <a:ext uri="{FF2B5EF4-FFF2-40B4-BE49-F238E27FC236}">
                <a16:creationId xmlns:a16="http://schemas.microsoft.com/office/drawing/2014/main" id="{D1CAA56E-534F-4B17-A4D9-9F7EBE82FF5A}"/>
              </a:ext>
            </a:extLst>
          </p:cNvPr>
          <p:cNvSpPr/>
          <p:nvPr/>
        </p:nvSpPr>
        <p:spPr>
          <a:xfrm>
            <a:off x="7443216" y="1600098"/>
            <a:ext cx="3566160" cy="82296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₹17.28M</a:t>
            </a:r>
            <a:endParaRPr lang="en-US" sz="2800" dirty="0"/>
          </a:p>
        </p:txBody>
      </p:sp>
      <p:sp>
        <p:nvSpPr>
          <p:cNvPr id="41" name="TextBox 40">
            <a:extLst>
              <a:ext uri="{FF2B5EF4-FFF2-40B4-BE49-F238E27FC236}">
                <a16:creationId xmlns:a16="http://schemas.microsoft.com/office/drawing/2014/main" id="{02D86A6B-43DB-8F9A-C0C8-D6FBCE9C6424}"/>
              </a:ext>
            </a:extLst>
          </p:cNvPr>
          <p:cNvSpPr txBox="1"/>
          <p:nvPr/>
        </p:nvSpPr>
        <p:spPr>
          <a:xfrm>
            <a:off x="1106424" y="1130397"/>
            <a:ext cx="10433304" cy="2585323"/>
          </a:xfrm>
          <a:prstGeom prst="rect">
            <a:avLst/>
          </a:prstGeom>
          <a:noFill/>
        </p:spPr>
        <p:txBody>
          <a:bodyPr wrap="square" rtlCol="0">
            <a:spAutoFit/>
          </a:bodyPr>
          <a:lstStyle/>
          <a:p>
            <a:r>
              <a:rPr lang="en-US" dirty="0">
                <a:solidFill>
                  <a:schemeClr val="bg1"/>
                </a:solidFill>
              </a:rPr>
              <a:t>Total Sales 						 Total Profit  						Production Cost  </a:t>
            </a: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r>
              <a:rPr lang="en-US" dirty="0">
                <a:solidFill>
                  <a:schemeClr val="bg1"/>
                </a:solidFill>
              </a:rPr>
              <a:t>Total Orders  						Total Customers  					Profit Margin %</a:t>
            </a:r>
          </a:p>
        </p:txBody>
      </p:sp>
      <p:sp>
        <p:nvSpPr>
          <p:cNvPr id="43" name="Text 7">
            <a:extLst>
              <a:ext uri="{FF2B5EF4-FFF2-40B4-BE49-F238E27FC236}">
                <a16:creationId xmlns:a16="http://schemas.microsoft.com/office/drawing/2014/main" id="{6648F6F0-26E0-6544-8FC4-5D48C73B7E7D}"/>
              </a:ext>
            </a:extLst>
          </p:cNvPr>
          <p:cNvSpPr/>
          <p:nvPr/>
        </p:nvSpPr>
        <p:spPr>
          <a:xfrm>
            <a:off x="0" y="1641574"/>
            <a:ext cx="3566160" cy="822960"/>
          </a:xfrm>
          <a:prstGeom prst="rect">
            <a:avLst/>
          </a:prstGeom>
          <a:noFill/>
          <a:ln/>
        </p:spPr>
        <p:txBody>
          <a:bodyPr wrap="square" rtlCol="0" anchor="ctr"/>
          <a:lstStyle/>
          <a:p>
            <a:pPr algn="ctr"/>
            <a:r>
              <a:rPr lang="en-US" sz="2800" b="1" dirty="0">
                <a:solidFill>
                  <a:srgbClr val="FFFFFF"/>
                </a:solidFill>
                <a:latin typeface="Arial" pitchFamily="34" charset="0"/>
                <a:ea typeface="Arial" pitchFamily="34" charset="-122"/>
                <a:cs typeface="Arial" pitchFamily="34" charset="-120"/>
              </a:rPr>
              <a:t>₹29.36M</a:t>
            </a:r>
            <a:endParaRPr lang="en-US" sz="2800" dirty="0"/>
          </a:p>
        </p:txBody>
      </p:sp>
      <p:sp>
        <p:nvSpPr>
          <p:cNvPr id="44" name="TextBox 43">
            <a:extLst>
              <a:ext uri="{FF2B5EF4-FFF2-40B4-BE49-F238E27FC236}">
                <a16:creationId xmlns:a16="http://schemas.microsoft.com/office/drawing/2014/main" id="{8D955228-2E94-F1E6-DC1D-829BA0631BA5}"/>
              </a:ext>
            </a:extLst>
          </p:cNvPr>
          <p:cNvSpPr txBox="1"/>
          <p:nvPr/>
        </p:nvSpPr>
        <p:spPr>
          <a:xfrm>
            <a:off x="941832" y="4873752"/>
            <a:ext cx="10597896" cy="646331"/>
          </a:xfrm>
          <a:prstGeom prst="rect">
            <a:avLst/>
          </a:prstGeom>
          <a:noFill/>
        </p:spPr>
        <p:txBody>
          <a:bodyPr wrap="square" rtlCol="0">
            <a:spAutoFit/>
          </a:bodyPr>
          <a:lstStyle/>
          <a:p>
            <a:r>
              <a:rPr lang="en-US" b="1" i="1" dirty="0">
                <a:solidFill>
                  <a:schemeClr val="bg1"/>
                </a:solidFill>
              </a:rPr>
              <a:t>The dashboard tracks Total Sales, Total Profit, Production Cost, Total Orders, Customer Count, and Profit Margin to provide a quick overview of overall business performance.</a:t>
            </a:r>
          </a:p>
        </p:txBody>
      </p:sp>
    </p:spTree>
    <p:extLst>
      <p:ext uri="{BB962C8B-B14F-4D97-AF65-F5344CB8AC3E}">
        <p14:creationId xmlns:p14="http://schemas.microsoft.com/office/powerpoint/2010/main" val="415823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00"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3833550" cy="538609"/>
          </a:xfrm>
          <a:prstGeom prst="rect">
            <a:avLst/>
          </a:prstGeom>
          <a:noFill/>
        </p:spPr>
        <p:txBody>
          <a:bodyPr wrap="none">
            <a:spAutoFit/>
          </a:bodyPr>
          <a:lstStyle/>
          <a:p>
            <a:pPr algn="l"/>
            <a:r>
              <a:rPr sz="2900" b="1" dirty="0">
                <a:solidFill>
                  <a:srgbClr val="FFFFFF"/>
                </a:solidFill>
                <a:latin typeface="Aptos"/>
              </a:rPr>
              <a:t>0</a:t>
            </a:r>
            <a:r>
              <a:rPr lang="en-US" sz="2900" b="1" dirty="0">
                <a:solidFill>
                  <a:srgbClr val="FFFFFF"/>
                </a:solidFill>
                <a:latin typeface="Aptos"/>
              </a:rPr>
              <a:t>7</a:t>
            </a:r>
            <a:r>
              <a:rPr sz="2900" b="1" dirty="0">
                <a:solidFill>
                  <a:srgbClr val="FFFFFF"/>
                </a:solidFill>
                <a:latin typeface="Aptos"/>
              </a:rPr>
              <a:t>  |  Excel Dashboard</a:t>
            </a:r>
          </a:p>
        </p:txBody>
      </p:sp>
      <p:sp>
        <p:nvSpPr>
          <p:cNvPr id="6" name="TextBox 5"/>
          <p:cNvSpPr txBox="1"/>
          <p:nvPr/>
        </p:nvSpPr>
        <p:spPr>
          <a:xfrm>
            <a:off x="1005840" y="3337560"/>
            <a:ext cx="6812280" cy="640080"/>
          </a:xfrm>
          <a:prstGeom prst="rect">
            <a:avLst/>
          </a:prstGeom>
          <a:noFill/>
        </p:spPr>
        <p:txBody>
          <a:bodyPr wrap="none">
            <a:spAutoFit/>
          </a:bodyPr>
          <a:lstStyle/>
          <a:p>
            <a:pPr algn="ctr"/>
            <a:r>
              <a:rPr sz="1800" b="1">
                <a:solidFill>
                  <a:srgbClr val="0D1C30"/>
                </a:solidFill>
                <a:latin typeface="Aptos"/>
              </a:rPr>
              <a:t>INSERT FINAL EXCEL DASHBOARD SCREENSHOT HERE</a:t>
            </a:r>
          </a:p>
        </p:txBody>
      </p:sp>
      <p:pic>
        <p:nvPicPr>
          <p:cNvPr id="10" name="Picture 9" descr="The Adventure Works Sales Analytics Dashboard displays key metrics such as total sales, profits, orders, and customer data, along with product sales breakdown by category and region, and quarterly sales trends.&#10;&#10;AI-generated content may be incorrect.">
            <a:extLst>
              <a:ext uri="{FF2B5EF4-FFF2-40B4-BE49-F238E27FC236}">
                <a16:creationId xmlns:a16="http://schemas.microsoft.com/office/drawing/2014/main" id="{6979F856-2DDE-CA61-E296-6BB23AAABB0E}"/>
              </a:ext>
            </a:extLst>
          </p:cNvPr>
          <p:cNvPicPr>
            <a:picLocks noChangeAspect="1"/>
          </p:cNvPicPr>
          <p:nvPr/>
        </p:nvPicPr>
        <p:blipFill>
          <a:blip r:embed="rId2"/>
          <a:stretch>
            <a:fillRect/>
          </a:stretch>
        </p:blipFill>
        <p:spPr>
          <a:xfrm>
            <a:off x="276167" y="858650"/>
            <a:ext cx="11663422" cy="57717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00584"/>
            <a:ext cx="4383636" cy="538609"/>
          </a:xfrm>
          <a:prstGeom prst="rect">
            <a:avLst/>
          </a:prstGeom>
          <a:noFill/>
        </p:spPr>
        <p:txBody>
          <a:bodyPr wrap="none">
            <a:spAutoFit/>
          </a:bodyPr>
          <a:lstStyle/>
          <a:p>
            <a:pPr algn="l"/>
            <a:r>
              <a:rPr sz="2900" b="1" dirty="0">
                <a:solidFill>
                  <a:srgbClr val="FFFFFF"/>
                </a:solidFill>
                <a:latin typeface="Aptos"/>
              </a:rPr>
              <a:t>0</a:t>
            </a:r>
            <a:r>
              <a:rPr lang="en-US" sz="2900" b="1" dirty="0">
                <a:solidFill>
                  <a:srgbClr val="FFFFFF"/>
                </a:solidFill>
                <a:latin typeface="Aptos"/>
              </a:rPr>
              <a:t>8</a:t>
            </a:r>
            <a:r>
              <a:rPr sz="2900" b="1" dirty="0">
                <a:solidFill>
                  <a:srgbClr val="FFFFFF"/>
                </a:solidFill>
                <a:latin typeface="Aptos"/>
              </a:rPr>
              <a:t>  |  Power BI Dashboard</a:t>
            </a:r>
          </a:p>
        </p:txBody>
      </p:sp>
      <p:sp>
        <p:nvSpPr>
          <p:cNvPr id="6" name="TextBox 5"/>
          <p:cNvSpPr txBox="1"/>
          <p:nvPr/>
        </p:nvSpPr>
        <p:spPr>
          <a:xfrm>
            <a:off x="1005840" y="3337560"/>
            <a:ext cx="6812280" cy="640080"/>
          </a:xfrm>
          <a:prstGeom prst="rect">
            <a:avLst/>
          </a:prstGeom>
          <a:noFill/>
        </p:spPr>
        <p:txBody>
          <a:bodyPr wrap="none">
            <a:spAutoFit/>
          </a:bodyPr>
          <a:lstStyle/>
          <a:p>
            <a:pPr algn="ctr"/>
            <a:r>
              <a:rPr sz="1800" b="1">
                <a:solidFill>
                  <a:srgbClr val="0D1C30"/>
                </a:solidFill>
                <a:latin typeface="Aptos"/>
              </a:rPr>
              <a:t>INSERT FINAL POWER BI DASHBOARD SCREENSHOT HERE</a:t>
            </a:r>
          </a:p>
        </p:txBody>
      </p:sp>
      <p:pic>
        <p:nvPicPr>
          <p:cNvPr id="10" name="Picture 9" descr="The image is a dashboard layout in Power BI displaying various sales and cost analytics for a business, including sales regions, total revenue, profit margins, customer count, and quarterly sales breakdown.&#10;&#10;AI-generated content may be incorrect.">
            <a:extLst>
              <a:ext uri="{FF2B5EF4-FFF2-40B4-BE49-F238E27FC236}">
                <a16:creationId xmlns:a16="http://schemas.microsoft.com/office/drawing/2014/main" id="{78928FA4-938E-42C3-F996-74BDA8546A1C}"/>
              </a:ext>
            </a:extLst>
          </p:cNvPr>
          <p:cNvPicPr>
            <a:picLocks noChangeAspect="1"/>
          </p:cNvPicPr>
          <p:nvPr/>
        </p:nvPicPr>
        <p:blipFill>
          <a:blip r:embed="rId2"/>
          <a:stretch>
            <a:fillRect/>
          </a:stretch>
        </p:blipFill>
        <p:spPr>
          <a:xfrm>
            <a:off x="257671" y="740664"/>
            <a:ext cx="11666105" cy="59344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09728"/>
            <a:ext cx="4243726" cy="538609"/>
          </a:xfrm>
          <a:prstGeom prst="rect">
            <a:avLst/>
          </a:prstGeom>
          <a:noFill/>
        </p:spPr>
        <p:txBody>
          <a:bodyPr wrap="none">
            <a:spAutoFit/>
          </a:bodyPr>
          <a:lstStyle/>
          <a:p>
            <a:pPr algn="l"/>
            <a:r>
              <a:rPr sz="2900" b="1" dirty="0">
                <a:solidFill>
                  <a:srgbClr val="FFFFFF"/>
                </a:solidFill>
                <a:latin typeface="Aptos"/>
              </a:rPr>
              <a:t>0</a:t>
            </a:r>
            <a:r>
              <a:rPr lang="en-US" sz="2900" b="1" dirty="0">
                <a:solidFill>
                  <a:srgbClr val="FFFFFF"/>
                </a:solidFill>
                <a:latin typeface="Aptos"/>
              </a:rPr>
              <a:t>9</a:t>
            </a:r>
            <a:r>
              <a:rPr sz="2900" b="1" dirty="0">
                <a:solidFill>
                  <a:srgbClr val="FFFFFF"/>
                </a:solidFill>
                <a:latin typeface="Aptos"/>
              </a:rPr>
              <a:t>  |  Tableau Dashboard</a:t>
            </a:r>
          </a:p>
        </p:txBody>
      </p:sp>
      <p:sp>
        <p:nvSpPr>
          <p:cNvPr id="6" name="TextBox 5"/>
          <p:cNvSpPr txBox="1"/>
          <p:nvPr/>
        </p:nvSpPr>
        <p:spPr>
          <a:xfrm>
            <a:off x="1005840" y="3337560"/>
            <a:ext cx="6812280" cy="640080"/>
          </a:xfrm>
          <a:prstGeom prst="rect">
            <a:avLst/>
          </a:prstGeom>
          <a:noFill/>
        </p:spPr>
        <p:txBody>
          <a:bodyPr wrap="none">
            <a:spAutoFit/>
          </a:bodyPr>
          <a:lstStyle/>
          <a:p>
            <a:pPr algn="ctr"/>
            <a:r>
              <a:rPr sz="1800" b="1">
                <a:solidFill>
                  <a:srgbClr val="0D1C30"/>
                </a:solidFill>
                <a:latin typeface="Aptos"/>
              </a:rPr>
              <a:t>INSERT FINAL TABLEAU DASHBOARD SCREENSHOT HERE</a:t>
            </a:r>
          </a:p>
        </p:txBody>
      </p:sp>
      <p:pic>
        <p:nvPicPr>
          <p:cNvPr id="10" name="Picture 9" descr="The Adventure Works Sales &amp; Performance Dashboard displays various metrics including total sales, costs, profit, and customer count, alongside a sales versus production cost analysis and a breakdown of top-selling products and customers.&#10;&#10;AI-generated content may be incorrect.">
            <a:extLst>
              <a:ext uri="{FF2B5EF4-FFF2-40B4-BE49-F238E27FC236}">
                <a16:creationId xmlns:a16="http://schemas.microsoft.com/office/drawing/2014/main" id="{1CB6A039-0E68-1001-B628-584A4FCFECF1}"/>
              </a:ext>
            </a:extLst>
          </p:cNvPr>
          <p:cNvPicPr>
            <a:picLocks noChangeAspect="1"/>
          </p:cNvPicPr>
          <p:nvPr/>
        </p:nvPicPr>
        <p:blipFill>
          <a:blip r:embed="rId2"/>
          <a:stretch>
            <a:fillRect/>
          </a:stretch>
        </p:blipFill>
        <p:spPr>
          <a:xfrm>
            <a:off x="225552" y="731520"/>
            <a:ext cx="11725656" cy="58628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7A205-E720-A05D-B0D7-452439AF48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1D9FFC2-4929-D50D-ED90-E3FCDB0A20DE}"/>
              </a:ext>
            </a:extLst>
          </p:cNvPr>
          <p:cNvSpPr/>
          <p:nvPr/>
        </p:nvSpPr>
        <p:spPr>
          <a:xfrm>
            <a:off x="0"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E9D79C5-01F8-165B-F473-2CCA7159CB4C}"/>
              </a:ext>
            </a:extLst>
          </p:cNvPr>
          <p:cNvSpPr txBox="1"/>
          <p:nvPr/>
        </p:nvSpPr>
        <p:spPr>
          <a:xfrm>
            <a:off x="594360" y="109728"/>
            <a:ext cx="3081293" cy="538609"/>
          </a:xfrm>
          <a:prstGeom prst="rect">
            <a:avLst/>
          </a:prstGeom>
          <a:noFill/>
        </p:spPr>
        <p:txBody>
          <a:bodyPr wrap="none">
            <a:spAutoFit/>
          </a:bodyPr>
          <a:lstStyle/>
          <a:p>
            <a:pPr algn="l"/>
            <a:r>
              <a:rPr lang="en-US" sz="2900" b="1" dirty="0">
                <a:solidFill>
                  <a:srgbClr val="FFFFFF"/>
                </a:solidFill>
                <a:latin typeface="Aptos"/>
              </a:rPr>
              <a:t>10</a:t>
            </a:r>
            <a:r>
              <a:rPr sz="2900" b="1" dirty="0">
                <a:solidFill>
                  <a:srgbClr val="FFFFFF"/>
                </a:solidFill>
                <a:latin typeface="Aptos"/>
              </a:rPr>
              <a:t>  |  </a:t>
            </a:r>
            <a:r>
              <a:rPr lang="en-US" sz="2900" b="1" dirty="0">
                <a:solidFill>
                  <a:srgbClr val="FFFFFF"/>
                </a:solidFill>
                <a:latin typeface="Aptos"/>
              </a:rPr>
              <a:t>SQL Queries</a:t>
            </a:r>
            <a:endParaRPr sz="2900" b="1" dirty="0">
              <a:solidFill>
                <a:srgbClr val="FFFFFF"/>
              </a:solidFill>
              <a:latin typeface="Aptos"/>
            </a:endParaRPr>
          </a:p>
        </p:txBody>
      </p:sp>
      <p:sp>
        <p:nvSpPr>
          <p:cNvPr id="6" name="TextBox 5">
            <a:extLst>
              <a:ext uri="{FF2B5EF4-FFF2-40B4-BE49-F238E27FC236}">
                <a16:creationId xmlns:a16="http://schemas.microsoft.com/office/drawing/2014/main" id="{D5367400-FFFD-3B26-174B-9AA3744DAEAF}"/>
              </a:ext>
            </a:extLst>
          </p:cNvPr>
          <p:cNvSpPr txBox="1"/>
          <p:nvPr/>
        </p:nvSpPr>
        <p:spPr>
          <a:xfrm>
            <a:off x="1005840" y="3337560"/>
            <a:ext cx="6812280" cy="640080"/>
          </a:xfrm>
          <a:prstGeom prst="rect">
            <a:avLst/>
          </a:prstGeom>
          <a:noFill/>
        </p:spPr>
        <p:txBody>
          <a:bodyPr wrap="none">
            <a:spAutoFit/>
          </a:bodyPr>
          <a:lstStyle/>
          <a:p>
            <a:pPr algn="ctr"/>
            <a:r>
              <a:rPr sz="1800" b="1">
                <a:solidFill>
                  <a:srgbClr val="0D1C30"/>
                </a:solidFill>
                <a:latin typeface="Aptos"/>
              </a:rPr>
              <a:t>INSERT FINAL TABLEAU DASHBOARD SCREENSHOT HERE</a:t>
            </a:r>
          </a:p>
        </p:txBody>
      </p:sp>
      <p:pic>
        <p:nvPicPr>
          <p:cNvPr id="7" name="Image 0" descr="/home/claude/ppt_build/sql_screenshot_1.png">
            <a:extLst>
              <a:ext uri="{FF2B5EF4-FFF2-40B4-BE49-F238E27FC236}">
                <a16:creationId xmlns:a16="http://schemas.microsoft.com/office/drawing/2014/main" id="{96504340-FD3F-5A00-C785-C425C08729D6}"/>
              </a:ext>
            </a:extLst>
          </p:cNvPr>
          <p:cNvPicPr>
            <a:picLocks noChangeAspect="1"/>
          </p:cNvPicPr>
          <p:nvPr/>
        </p:nvPicPr>
        <p:blipFill>
          <a:blip r:embed="rId2"/>
          <a:srcRect/>
          <a:stretch/>
        </p:blipFill>
        <p:spPr>
          <a:xfrm>
            <a:off x="140070" y="648336"/>
            <a:ext cx="11911721" cy="6026783"/>
          </a:xfrm>
          <a:prstGeom prst="rect">
            <a:avLst/>
          </a:prstGeom>
        </p:spPr>
      </p:pic>
    </p:spTree>
    <p:extLst>
      <p:ext uri="{BB962C8B-B14F-4D97-AF65-F5344CB8AC3E}">
        <p14:creationId xmlns:p14="http://schemas.microsoft.com/office/powerpoint/2010/main" val="4138429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81A56-9245-FD37-2687-8E28416A5FD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B73D4F-3272-1F1B-4F3B-AE6A592185A2}"/>
              </a:ext>
            </a:extLst>
          </p:cNvPr>
          <p:cNvSpPr/>
          <p:nvPr/>
        </p:nvSpPr>
        <p:spPr>
          <a:xfrm>
            <a:off x="0"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056B3FF-1976-B5EF-F23E-CD82F0A0E1D0}"/>
              </a:ext>
            </a:extLst>
          </p:cNvPr>
          <p:cNvSpPr txBox="1"/>
          <p:nvPr/>
        </p:nvSpPr>
        <p:spPr>
          <a:xfrm>
            <a:off x="594360" y="109728"/>
            <a:ext cx="3081293" cy="538609"/>
          </a:xfrm>
          <a:prstGeom prst="rect">
            <a:avLst/>
          </a:prstGeom>
          <a:noFill/>
        </p:spPr>
        <p:txBody>
          <a:bodyPr wrap="none">
            <a:spAutoFit/>
          </a:bodyPr>
          <a:lstStyle/>
          <a:p>
            <a:pPr algn="l"/>
            <a:r>
              <a:rPr lang="en-US" sz="2900" b="1" dirty="0">
                <a:solidFill>
                  <a:srgbClr val="FFFFFF"/>
                </a:solidFill>
                <a:latin typeface="Aptos"/>
              </a:rPr>
              <a:t>10</a:t>
            </a:r>
            <a:r>
              <a:rPr sz="2900" b="1" dirty="0">
                <a:solidFill>
                  <a:srgbClr val="FFFFFF"/>
                </a:solidFill>
                <a:latin typeface="Aptos"/>
              </a:rPr>
              <a:t>  |  </a:t>
            </a:r>
            <a:r>
              <a:rPr lang="en-US" sz="2900" b="1" dirty="0">
                <a:solidFill>
                  <a:srgbClr val="FFFFFF"/>
                </a:solidFill>
                <a:latin typeface="Aptos"/>
              </a:rPr>
              <a:t>SQL Queries</a:t>
            </a:r>
            <a:endParaRPr sz="2900" b="1" dirty="0">
              <a:solidFill>
                <a:srgbClr val="FFFFFF"/>
              </a:solidFill>
              <a:latin typeface="Aptos"/>
            </a:endParaRPr>
          </a:p>
        </p:txBody>
      </p:sp>
      <p:sp>
        <p:nvSpPr>
          <p:cNvPr id="6" name="TextBox 5">
            <a:extLst>
              <a:ext uri="{FF2B5EF4-FFF2-40B4-BE49-F238E27FC236}">
                <a16:creationId xmlns:a16="http://schemas.microsoft.com/office/drawing/2014/main" id="{B5B877D9-F03E-3047-26DE-3027C8BA57C6}"/>
              </a:ext>
            </a:extLst>
          </p:cNvPr>
          <p:cNvSpPr txBox="1"/>
          <p:nvPr/>
        </p:nvSpPr>
        <p:spPr>
          <a:xfrm>
            <a:off x="1005840" y="3337560"/>
            <a:ext cx="6812280" cy="640080"/>
          </a:xfrm>
          <a:prstGeom prst="rect">
            <a:avLst/>
          </a:prstGeom>
          <a:noFill/>
        </p:spPr>
        <p:txBody>
          <a:bodyPr wrap="none">
            <a:spAutoFit/>
          </a:bodyPr>
          <a:lstStyle/>
          <a:p>
            <a:pPr algn="ctr"/>
            <a:r>
              <a:rPr sz="1800" b="1" dirty="0">
                <a:solidFill>
                  <a:srgbClr val="0D1C30"/>
                </a:solidFill>
                <a:latin typeface="Aptos"/>
              </a:rPr>
              <a:t>INSERT FINAL TABLEAU DASHBOARD SCREENSHOT HERE</a:t>
            </a:r>
          </a:p>
        </p:txBody>
      </p:sp>
      <p:pic>
        <p:nvPicPr>
          <p:cNvPr id="5" name="Image 0" descr="/home/claude/ppt_build/sql_screenshot_2.png">
            <a:extLst>
              <a:ext uri="{FF2B5EF4-FFF2-40B4-BE49-F238E27FC236}">
                <a16:creationId xmlns:a16="http://schemas.microsoft.com/office/drawing/2014/main" id="{68C26B1C-873D-3A0F-A057-C202AA9C1032}"/>
              </a:ext>
            </a:extLst>
          </p:cNvPr>
          <p:cNvPicPr>
            <a:picLocks noChangeAspect="1"/>
          </p:cNvPicPr>
          <p:nvPr/>
        </p:nvPicPr>
        <p:blipFill>
          <a:blip r:embed="rId3"/>
          <a:srcRect/>
          <a:stretch/>
        </p:blipFill>
        <p:spPr>
          <a:xfrm>
            <a:off x="137160" y="648336"/>
            <a:ext cx="11901426" cy="6026784"/>
          </a:xfrm>
          <a:prstGeom prst="rect">
            <a:avLst/>
          </a:prstGeom>
        </p:spPr>
      </p:pic>
    </p:spTree>
    <p:extLst>
      <p:ext uri="{BB962C8B-B14F-4D97-AF65-F5344CB8AC3E}">
        <p14:creationId xmlns:p14="http://schemas.microsoft.com/office/powerpoint/2010/main" val="1967533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3016980" cy="538609"/>
          </a:xfrm>
          <a:prstGeom prst="rect">
            <a:avLst/>
          </a:prstGeom>
          <a:noFill/>
        </p:spPr>
        <p:txBody>
          <a:bodyPr wrap="none">
            <a:spAutoFit/>
          </a:bodyPr>
          <a:lstStyle/>
          <a:p>
            <a:pPr algn="l"/>
            <a:r>
              <a:rPr lang="en-US" sz="2900" b="1" dirty="0">
                <a:solidFill>
                  <a:srgbClr val="FFFFFF"/>
                </a:solidFill>
                <a:latin typeface="Aptos"/>
              </a:rPr>
              <a:t>11</a:t>
            </a:r>
            <a:r>
              <a:rPr sz="2900" b="1" dirty="0">
                <a:solidFill>
                  <a:srgbClr val="FFFFFF"/>
                </a:solidFill>
                <a:latin typeface="Aptos"/>
              </a:rPr>
              <a:t>  |  Key Insights</a:t>
            </a:r>
          </a:p>
        </p:txBody>
      </p:sp>
      <p:sp>
        <p:nvSpPr>
          <p:cNvPr id="5" name="Rounded Rectangle 4"/>
          <p:cNvSpPr/>
          <p:nvPr/>
        </p:nvSpPr>
        <p:spPr>
          <a:xfrm>
            <a:off x="795528" y="1243584"/>
            <a:ext cx="5074920" cy="164592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 y="1408175"/>
            <a:ext cx="4672583" cy="292608"/>
          </a:xfrm>
          <a:prstGeom prst="rect">
            <a:avLst/>
          </a:prstGeom>
          <a:noFill/>
        </p:spPr>
        <p:txBody>
          <a:bodyPr wrap="none">
            <a:spAutoFit/>
          </a:bodyPr>
          <a:lstStyle/>
          <a:p>
            <a:pPr algn="l"/>
            <a:r>
              <a:rPr sz="1400" b="1">
                <a:solidFill>
                  <a:srgbClr val="0D1C30"/>
                </a:solidFill>
                <a:latin typeface="Aptos"/>
              </a:rPr>
              <a:t>PRODUCT</a:t>
            </a:r>
          </a:p>
        </p:txBody>
      </p:sp>
      <p:sp>
        <p:nvSpPr>
          <p:cNvPr id="7" name="TextBox 6"/>
          <p:cNvSpPr txBox="1"/>
          <p:nvPr/>
        </p:nvSpPr>
        <p:spPr>
          <a:xfrm>
            <a:off x="941832" y="1719072"/>
            <a:ext cx="4884799" cy="954107"/>
          </a:xfrm>
          <a:prstGeom prst="rect">
            <a:avLst/>
          </a:prstGeom>
          <a:noFill/>
        </p:spPr>
        <p:txBody>
          <a:bodyPr wrap="none">
            <a:spAutoFit/>
          </a:bodyPr>
          <a:lstStyle/>
          <a:p>
            <a:pPr algn="l"/>
            <a:r>
              <a:rPr sz="1200" b="0" dirty="0">
                <a:solidFill>
                  <a:srgbClr val="5F6973"/>
                </a:solidFill>
                <a:latin typeface="Aptos"/>
              </a:rPr>
              <a:t>Top-performing product/category identified from sales contribution.</a:t>
            </a:r>
            <a:endParaRPr lang="en-US" sz="1200" b="0" dirty="0">
              <a:solidFill>
                <a:srgbClr val="5F6973"/>
              </a:solidFill>
              <a:latin typeface="Aptos"/>
            </a:endParaRPr>
          </a:p>
          <a:p>
            <a:pPr algn="l"/>
            <a:endParaRPr lang="en-US" sz="1200" dirty="0">
              <a:solidFill>
                <a:srgbClr val="5F6973"/>
              </a:solidFill>
              <a:latin typeface="Aptos"/>
            </a:endParaRPr>
          </a:p>
          <a:p>
            <a:pPr algn="l"/>
            <a:r>
              <a:rPr lang="en-US" sz="1600" b="1" dirty="0">
                <a:solidFill>
                  <a:srgbClr val="5F6973"/>
                </a:solidFill>
                <a:latin typeface="Aptos"/>
              </a:rPr>
              <a:t>Bikes is the Highest Sales Contribution in Category</a:t>
            </a:r>
          </a:p>
          <a:p>
            <a:pPr algn="l"/>
            <a:r>
              <a:rPr lang="en-US" sz="1600" b="1" dirty="0">
                <a:solidFill>
                  <a:srgbClr val="00B050"/>
                </a:solidFill>
                <a:latin typeface="Aptos"/>
              </a:rPr>
              <a:t>28.32M</a:t>
            </a:r>
            <a:endParaRPr sz="1600" b="1" dirty="0">
              <a:solidFill>
                <a:srgbClr val="00B050"/>
              </a:solidFill>
              <a:latin typeface="Aptos"/>
            </a:endParaRPr>
          </a:p>
        </p:txBody>
      </p:sp>
      <p:sp>
        <p:nvSpPr>
          <p:cNvPr id="8" name="Rounded Rectangle 7"/>
          <p:cNvSpPr/>
          <p:nvPr/>
        </p:nvSpPr>
        <p:spPr>
          <a:xfrm>
            <a:off x="6327648" y="1243584"/>
            <a:ext cx="5074920" cy="164592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28816" y="1408175"/>
            <a:ext cx="4672583" cy="292608"/>
          </a:xfrm>
          <a:prstGeom prst="rect">
            <a:avLst/>
          </a:prstGeom>
          <a:noFill/>
        </p:spPr>
        <p:txBody>
          <a:bodyPr wrap="none">
            <a:spAutoFit/>
          </a:bodyPr>
          <a:lstStyle/>
          <a:p>
            <a:pPr algn="l"/>
            <a:r>
              <a:rPr sz="1400" b="1">
                <a:solidFill>
                  <a:srgbClr val="0D1C30"/>
                </a:solidFill>
                <a:latin typeface="Aptos"/>
              </a:rPr>
              <a:t>REGION</a:t>
            </a:r>
          </a:p>
        </p:txBody>
      </p:sp>
      <p:sp>
        <p:nvSpPr>
          <p:cNvPr id="10" name="TextBox 9"/>
          <p:cNvSpPr txBox="1"/>
          <p:nvPr/>
        </p:nvSpPr>
        <p:spPr>
          <a:xfrm>
            <a:off x="6592824" y="1714501"/>
            <a:ext cx="4215384" cy="984885"/>
          </a:xfrm>
          <a:prstGeom prst="rect">
            <a:avLst/>
          </a:prstGeom>
          <a:noFill/>
        </p:spPr>
        <p:txBody>
          <a:bodyPr wrap="square">
            <a:spAutoFit/>
          </a:bodyPr>
          <a:lstStyle/>
          <a:p>
            <a:pPr algn="l"/>
            <a:r>
              <a:rPr sz="1200" b="0" dirty="0">
                <a:solidFill>
                  <a:srgbClr val="5F6973"/>
                </a:solidFill>
                <a:latin typeface="Aptos"/>
              </a:rPr>
              <a:t>Best and weakest sales </a:t>
            </a:r>
            <a:r>
              <a:rPr lang="en-US" sz="1200" b="0" dirty="0">
                <a:solidFill>
                  <a:srgbClr val="5F6973"/>
                </a:solidFill>
                <a:latin typeface="Aptos"/>
              </a:rPr>
              <a:t>Country</a:t>
            </a:r>
            <a:r>
              <a:rPr sz="1200" b="0" dirty="0">
                <a:solidFill>
                  <a:srgbClr val="5F6973"/>
                </a:solidFill>
                <a:latin typeface="Aptos"/>
              </a:rPr>
              <a:t> identified.</a:t>
            </a:r>
            <a:endParaRPr lang="en-US" sz="1200" b="0" dirty="0">
              <a:solidFill>
                <a:srgbClr val="5F6973"/>
              </a:solidFill>
              <a:latin typeface="Aptos"/>
            </a:endParaRPr>
          </a:p>
          <a:p>
            <a:pPr algn="l"/>
            <a:endParaRPr lang="en-US" sz="1200" dirty="0">
              <a:solidFill>
                <a:srgbClr val="5F6973"/>
              </a:solidFill>
              <a:latin typeface="Aptos"/>
            </a:endParaRPr>
          </a:p>
          <a:p>
            <a:pPr algn="l"/>
            <a:r>
              <a:rPr lang="en-US" sz="1600" b="1" dirty="0">
                <a:solidFill>
                  <a:srgbClr val="5F6973"/>
                </a:solidFill>
                <a:latin typeface="Aptos"/>
              </a:rPr>
              <a:t>United States with </a:t>
            </a:r>
            <a:r>
              <a:rPr lang="en-US" sz="1600" b="1" dirty="0">
                <a:solidFill>
                  <a:srgbClr val="00B050"/>
                </a:solidFill>
                <a:latin typeface="Aptos"/>
              </a:rPr>
              <a:t>9.39M</a:t>
            </a:r>
            <a:r>
              <a:rPr lang="en-US" sz="1600" b="1" dirty="0">
                <a:solidFill>
                  <a:srgbClr val="5F6973"/>
                </a:solidFill>
                <a:latin typeface="Aptos"/>
              </a:rPr>
              <a:t> is Highest</a:t>
            </a:r>
          </a:p>
          <a:p>
            <a:pPr algn="l"/>
            <a:r>
              <a:rPr lang="en-US" sz="1600" b="1" dirty="0">
                <a:solidFill>
                  <a:srgbClr val="5F6973"/>
                </a:solidFill>
                <a:latin typeface="Aptos"/>
              </a:rPr>
              <a:t>Canada with </a:t>
            </a:r>
            <a:r>
              <a:rPr lang="en-US" sz="1600" b="1" dirty="0">
                <a:solidFill>
                  <a:srgbClr val="FF0000"/>
                </a:solidFill>
                <a:latin typeface="Aptos"/>
              </a:rPr>
              <a:t>1.98M</a:t>
            </a:r>
            <a:r>
              <a:rPr lang="en-US" sz="1600" b="1" dirty="0">
                <a:solidFill>
                  <a:srgbClr val="5F6973"/>
                </a:solidFill>
                <a:latin typeface="Aptos"/>
              </a:rPr>
              <a:t> is lowest</a:t>
            </a:r>
            <a:endParaRPr sz="1600" b="1" dirty="0">
              <a:solidFill>
                <a:srgbClr val="5F6973"/>
              </a:solidFill>
              <a:latin typeface="Aptos"/>
            </a:endParaRPr>
          </a:p>
        </p:txBody>
      </p:sp>
      <p:sp>
        <p:nvSpPr>
          <p:cNvPr id="11" name="Rounded Rectangle 10"/>
          <p:cNvSpPr/>
          <p:nvPr/>
        </p:nvSpPr>
        <p:spPr>
          <a:xfrm>
            <a:off x="795528" y="3300984"/>
            <a:ext cx="5074920" cy="2980944"/>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96696" y="3465576"/>
            <a:ext cx="4672583" cy="292608"/>
          </a:xfrm>
          <a:prstGeom prst="rect">
            <a:avLst/>
          </a:prstGeom>
          <a:noFill/>
        </p:spPr>
        <p:txBody>
          <a:bodyPr wrap="none">
            <a:spAutoFit/>
          </a:bodyPr>
          <a:lstStyle/>
          <a:p>
            <a:pPr algn="l"/>
            <a:r>
              <a:rPr sz="1400" b="1">
                <a:solidFill>
                  <a:srgbClr val="0D1C30"/>
                </a:solidFill>
                <a:latin typeface="Aptos"/>
              </a:rPr>
              <a:t>CUSTOMER</a:t>
            </a:r>
          </a:p>
        </p:txBody>
      </p:sp>
      <p:sp>
        <p:nvSpPr>
          <p:cNvPr id="13" name="TextBox 12"/>
          <p:cNvSpPr txBox="1"/>
          <p:nvPr/>
        </p:nvSpPr>
        <p:spPr>
          <a:xfrm>
            <a:off x="996696" y="3739895"/>
            <a:ext cx="4672583" cy="960120"/>
          </a:xfrm>
          <a:prstGeom prst="rect">
            <a:avLst/>
          </a:prstGeom>
          <a:noFill/>
        </p:spPr>
        <p:txBody>
          <a:bodyPr wrap="none">
            <a:spAutoFit/>
          </a:bodyPr>
          <a:lstStyle/>
          <a:p>
            <a:pPr algn="l"/>
            <a:r>
              <a:rPr sz="1200" b="0">
                <a:solidFill>
                  <a:srgbClr val="5F6973"/>
                </a:solidFill>
                <a:latin typeface="Aptos"/>
              </a:rPr>
              <a:t>High-value customers and contribution patterns identified.</a:t>
            </a:r>
          </a:p>
        </p:txBody>
      </p:sp>
      <p:sp>
        <p:nvSpPr>
          <p:cNvPr id="14" name="Rounded Rectangle 13"/>
          <p:cNvSpPr/>
          <p:nvPr/>
        </p:nvSpPr>
        <p:spPr>
          <a:xfrm>
            <a:off x="6327648" y="3300984"/>
            <a:ext cx="5087112" cy="2980944"/>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28816" y="3465576"/>
            <a:ext cx="4672583" cy="292608"/>
          </a:xfrm>
          <a:prstGeom prst="rect">
            <a:avLst/>
          </a:prstGeom>
          <a:noFill/>
        </p:spPr>
        <p:txBody>
          <a:bodyPr wrap="none">
            <a:spAutoFit/>
          </a:bodyPr>
          <a:lstStyle/>
          <a:p>
            <a:pPr algn="l"/>
            <a:r>
              <a:rPr sz="1400" b="1">
                <a:solidFill>
                  <a:srgbClr val="0D1C30"/>
                </a:solidFill>
                <a:latin typeface="Aptos"/>
              </a:rPr>
              <a:t>TREND</a:t>
            </a:r>
          </a:p>
        </p:txBody>
      </p:sp>
      <p:sp>
        <p:nvSpPr>
          <p:cNvPr id="16" name="TextBox 15"/>
          <p:cNvSpPr txBox="1"/>
          <p:nvPr/>
        </p:nvSpPr>
        <p:spPr>
          <a:xfrm>
            <a:off x="6528816" y="3721607"/>
            <a:ext cx="4672583" cy="960120"/>
          </a:xfrm>
          <a:prstGeom prst="rect">
            <a:avLst/>
          </a:prstGeom>
          <a:noFill/>
        </p:spPr>
        <p:txBody>
          <a:bodyPr wrap="none">
            <a:spAutoFit/>
          </a:bodyPr>
          <a:lstStyle/>
          <a:p>
            <a:pPr algn="l"/>
            <a:r>
              <a:rPr sz="1200" b="0">
                <a:solidFill>
                  <a:srgbClr val="5F6973"/>
                </a:solidFill>
                <a:latin typeface="Aptos"/>
              </a:rPr>
              <a:t>Strong and weak periods identified across years/months.</a:t>
            </a:r>
          </a:p>
        </p:txBody>
      </p:sp>
      <p:graphicFrame>
        <p:nvGraphicFramePr>
          <p:cNvPr id="20" name="Table 19">
            <a:extLst>
              <a:ext uri="{FF2B5EF4-FFF2-40B4-BE49-F238E27FC236}">
                <a16:creationId xmlns:a16="http://schemas.microsoft.com/office/drawing/2014/main" id="{85B4422B-FD80-557B-6C59-C6270711FC67}"/>
              </a:ext>
            </a:extLst>
          </p:cNvPr>
          <p:cNvGraphicFramePr>
            <a:graphicFrameLocks noGrp="1"/>
          </p:cNvGraphicFramePr>
          <p:nvPr>
            <p:extLst>
              <p:ext uri="{D42A27DB-BD31-4B8C-83A1-F6EECF244321}">
                <p14:modId xmlns:p14="http://schemas.microsoft.com/office/powerpoint/2010/main" val="2659360374"/>
              </p:ext>
            </p:extLst>
          </p:nvPr>
        </p:nvGraphicFramePr>
        <p:xfrm>
          <a:off x="1088136" y="4096512"/>
          <a:ext cx="4471416" cy="1865376"/>
        </p:xfrm>
        <a:graphic>
          <a:graphicData uri="http://schemas.openxmlformats.org/drawingml/2006/table">
            <a:tbl>
              <a:tblPr>
                <a:tableStyleId>{5C22544A-7EE6-4342-B048-85BDC9FD1C3A}</a:tableStyleId>
              </a:tblPr>
              <a:tblGrid>
                <a:gridCol w="2587234">
                  <a:extLst>
                    <a:ext uri="{9D8B030D-6E8A-4147-A177-3AD203B41FA5}">
                      <a16:colId xmlns:a16="http://schemas.microsoft.com/office/drawing/2014/main" val="82472754"/>
                    </a:ext>
                  </a:extLst>
                </a:gridCol>
                <a:gridCol w="1884182">
                  <a:extLst>
                    <a:ext uri="{9D8B030D-6E8A-4147-A177-3AD203B41FA5}">
                      <a16:colId xmlns:a16="http://schemas.microsoft.com/office/drawing/2014/main" val="594893493"/>
                    </a:ext>
                  </a:extLst>
                </a:gridCol>
              </a:tblGrid>
              <a:tr h="310896">
                <a:tc>
                  <a:txBody>
                    <a:bodyPr/>
                    <a:lstStyle/>
                    <a:p>
                      <a:pPr algn="ctr" fontAlgn="b">
                        <a:buNone/>
                      </a:pPr>
                      <a:r>
                        <a:rPr lang="en-US" sz="1600" b="1" u="none" strike="noStrike" dirty="0">
                          <a:effectLst/>
                        </a:rPr>
                        <a:t>Customer Name</a:t>
                      </a:r>
                      <a:endParaRPr lang="en-US" sz="1600" b="1" i="0" u="none" strike="noStrike" dirty="0">
                        <a:solidFill>
                          <a:srgbClr val="DFECEB"/>
                        </a:solidFill>
                        <a:effectLst/>
                        <a:latin typeface="Calibri" panose="020F0502020204030204" pitchFamily="34" charset="0"/>
                      </a:endParaRPr>
                    </a:p>
                  </a:txBody>
                  <a:tcPr marL="6350" marR="6350" marT="6350" marB="0" anchor="b"/>
                </a:tc>
                <a:tc>
                  <a:txBody>
                    <a:bodyPr/>
                    <a:lstStyle/>
                    <a:p>
                      <a:pPr algn="ctr" fontAlgn="b">
                        <a:buNone/>
                      </a:pPr>
                      <a:r>
                        <a:rPr lang="en-US" sz="1600" b="1" u="none" strike="noStrike" dirty="0">
                          <a:effectLst/>
                        </a:rPr>
                        <a:t>Sales Amount</a:t>
                      </a:r>
                      <a:endParaRPr lang="en-US" sz="1600" b="1" i="0" u="none" strike="noStrike" dirty="0">
                        <a:solidFill>
                          <a:srgbClr val="DFECEB"/>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82564014"/>
                  </a:ext>
                </a:extLst>
              </a:tr>
              <a:tr h="310896">
                <a:tc>
                  <a:txBody>
                    <a:bodyPr/>
                    <a:lstStyle/>
                    <a:p>
                      <a:pPr algn="l" fontAlgn="b">
                        <a:buNone/>
                      </a:pPr>
                      <a:r>
                        <a:rPr lang="en-US" sz="1600" b="1" u="none" strike="noStrike" dirty="0">
                          <a:effectLst/>
                        </a:rPr>
                        <a:t>Jordan Turner</a:t>
                      </a:r>
                      <a:endParaRPr lang="en-US" sz="1600" b="1" i="0" u="none" strike="noStrike" dirty="0">
                        <a:solidFill>
                          <a:srgbClr val="FFFFFF"/>
                        </a:solidFill>
                        <a:effectLst/>
                        <a:latin typeface="Calibri" panose="020F0502020204030204" pitchFamily="34" charset="0"/>
                      </a:endParaRPr>
                    </a:p>
                  </a:txBody>
                  <a:tcPr marL="6350" marR="6350" marT="6350" marB="0" anchor="b"/>
                </a:tc>
                <a:tc>
                  <a:txBody>
                    <a:bodyPr/>
                    <a:lstStyle/>
                    <a:p>
                      <a:pPr algn="ctr" fontAlgn="b">
                        <a:buNone/>
                      </a:pPr>
                      <a:r>
                        <a:rPr lang="en-US" sz="1600" b="1" u="none" strike="noStrike" dirty="0">
                          <a:effectLst/>
                        </a:rPr>
                        <a:t>15,999</a:t>
                      </a:r>
                      <a:endParaRPr lang="en-US" sz="1600" b="1"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861698965"/>
                  </a:ext>
                </a:extLst>
              </a:tr>
              <a:tr h="310896">
                <a:tc>
                  <a:txBody>
                    <a:bodyPr/>
                    <a:lstStyle/>
                    <a:p>
                      <a:pPr algn="l" fontAlgn="b">
                        <a:buNone/>
                      </a:pPr>
                      <a:r>
                        <a:rPr lang="en-US" sz="1600" b="1" u="none" strike="noStrike" dirty="0">
                          <a:effectLst/>
                        </a:rPr>
                        <a:t>Kaitlyn Henderson</a:t>
                      </a:r>
                      <a:endParaRPr lang="en-US" sz="1600" b="1" i="0" u="none" strike="noStrike" dirty="0">
                        <a:solidFill>
                          <a:srgbClr val="FFFFFF"/>
                        </a:solidFill>
                        <a:effectLst/>
                        <a:latin typeface="Calibri" panose="020F0502020204030204" pitchFamily="34" charset="0"/>
                      </a:endParaRPr>
                    </a:p>
                  </a:txBody>
                  <a:tcPr marL="6350" marR="6350" marT="6350" marB="0" anchor="b"/>
                </a:tc>
                <a:tc>
                  <a:txBody>
                    <a:bodyPr/>
                    <a:lstStyle/>
                    <a:p>
                      <a:pPr algn="ctr" fontAlgn="b">
                        <a:buNone/>
                      </a:pPr>
                      <a:r>
                        <a:rPr lang="en-US" sz="1600" b="1" u="none" strike="noStrike" dirty="0">
                          <a:effectLst/>
                        </a:rPr>
                        <a:t>13,294</a:t>
                      </a:r>
                      <a:endParaRPr lang="en-US" sz="1600" b="1"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74426397"/>
                  </a:ext>
                </a:extLst>
              </a:tr>
              <a:tr h="310896">
                <a:tc>
                  <a:txBody>
                    <a:bodyPr/>
                    <a:lstStyle/>
                    <a:p>
                      <a:pPr algn="l" fontAlgn="b">
                        <a:buNone/>
                      </a:pPr>
                      <a:r>
                        <a:rPr lang="en-US" sz="1600" b="1" u="none" strike="noStrike" dirty="0">
                          <a:effectLst/>
                        </a:rPr>
                        <a:t>Margaret He</a:t>
                      </a:r>
                      <a:endParaRPr lang="en-US" sz="1600" b="1" i="0" u="none" strike="noStrike" dirty="0">
                        <a:solidFill>
                          <a:srgbClr val="FFFFFF"/>
                        </a:solidFill>
                        <a:effectLst/>
                        <a:latin typeface="Calibri" panose="020F0502020204030204" pitchFamily="34" charset="0"/>
                      </a:endParaRPr>
                    </a:p>
                  </a:txBody>
                  <a:tcPr marL="6350" marR="6350" marT="6350" marB="0" anchor="b"/>
                </a:tc>
                <a:tc>
                  <a:txBody>
                    <a:bodyPr/>
                    <a:lstStyle/>
                    <a:p>
                      <a:pPr algn="ctr" fontAlgn="b">
                        <a:buNone/>
                      </a:pPr>
                      <a:r>
                        <a:rPr lang="en-US" sz="1600" b="1" u="none" strike="noStrike" dirty="0">
                          <a:effectLst/>
                        </a:rPr>
                        <a:t>13,269</a:t>
                      </a:r>
                      <a:endParaRPr lang="en-US" sz="1600" b="1"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483231756"/>
                  </a:ext>
                </a:extLst>
              </a:tr>
              <a:tr h="310896">
                <a:tc>
                  <a:txBody>
                    <a:bodyPr/>
                    <a:lstStyle/>
                    <a:p>
                      <a:pPr algn="l" fontAlgn="b">
                        <a:buNone/>
                      </a:pPr>
                      <a:r>
                        <a:rPr lang="en-US" sz="1600" b="1" u="none" strike="noStrike" dirty="0">
                          <a:effectLst/>
                        </a:rPr>
                        <a:t>Nichole Nara</a:t>
                      </a:r>
                      <a:endParaRPr lang="en-US" sz="1600" b="1" i="0" u="none" strike="noStrike" dirty="0">
                        <a:solidFill>
                          <a:srgbClr val="FFFFFF"/>
                        </a:solidFill>
                        <a:effectLst/>
                        <a:latin typeface="Calibri" panose="020F0502020204030204" pitchFamily="34" charset="0"/>
                      </a:endParaRPr>
                    </a:p>
                  </a:txBody>
                  <a:tcPr marL="6350" marR="6350" marT="6350" marB="0" anchor="b"/>
                </a:tc>
                <a:tc>
                  <a:txBody>
                    <a:bodyPr/>
                    <a:lstStyle/>
                    <a:p>
                      <a:pPr algn="ctr" fontAlgn="b">
                        <a:buNone/>
                      </a:pPr>
                      <a:r>
                        <a:rPr lang="en-US" sz="1600" b="1" u="none" strike="noStrike" dirty="0">
                          <a:effectLst/>
                        </a:rPr>
                        <a:t>13,295</a:t>
                      </a:r>
                      <a:endParaRPr lang="en-US" sz="1600" b="1"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500896128"/>
                  </a:ext>
                </a:extLst>
              </a:tr>
              <a:tr h="310896">
                <a:tc>
                  <a:txBody>
                    <a:bodyPr/>
                    <a:lstStyle/>
                    <a:p>
                      <a:pPr algn="l" fontAlgn="b">
                        <a:buNone/>
                      </a:pPr>
                      <a:r>
                        <a:rPr lang="en-US" sz="1600" b="1" u="none" strike="noStrike">
                          <a:effectLst/>
                        </a:rPr>
                        <a:t>Willie Xu</a:t>
                      </a:r>
                      <a:endParaRPr lang="en-US" sz="1600" b="1" i="0" u="none" strike="noStrike">
                        <a:solidFill>
                          <a:srgbClr val="FFFFFF"/>
                        </a:solidFill>
                        <a:effectLst/>
                        <a:latin typeface="Calibri" panose="020F0502020204030204" pitchFamily="34" charset="0"/>
                      </a:endParaRPr>
                    </a:p>
                  </a:txBody>
                  <a:tcPr marL="6350" marR="6350" marT="6350" marB="0" anchor="b"/>
                </a:tc>
                <a:tc>
                  <a:txBody>
                    <a:bodyPr/>
                    <a:lstStyle/>
                    <a:p>
                      <a:pPr algn="ctr" fontAlgn="b">
                        <a:buNone/>
                      </a:pPr>
                      <a:r>
                        <a:rPr lang="en-US" sz="1600" b="1" u="none" strike="noStrike" dirty="0">
                          <a:effectLst/>
                        </a:rPr>
                        <a:t>13,490</a:t>
                      </a:r>
                      <a:endParaRPr lang="en-US" sz="1600" b="1"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650675716"/>
                  </a:ext>
                </a:extLst>
              </a:tr>
            </a:tbl>
          </a:graphicData>
        </a:graphic>
      </p:graphicFrame>
      <p:graphicFrame>
        <p:nvGraphicFramePr>
          <p:cNvPr id="21" name="Chart 20">
            <a:extLst>
              <a:ext uri="{FF2B5EF4-FFF2-40B4-BE49-F238E27FC236}">
                <a16:creationId xmlns:a16="http://schemas.microsoft.com/office/drawing/2014/main" id="{543DE1D7-197E-0B6D-92E2-B972BB712E3C}"/>
              </a:ext>
            </a:extLst>
          </p:cNvPr>
          <p:cNvGraphicFramePr>
            <a:graphicFrameLocks/>
          </p:cNvGraphicFramePr>
          <p:nvPr>
            <p:extLst>
              <p:ext uri="{D42A27DB-BD31-4B8C-83A1-F6EECF244321}">
                <p14:modId xmlns:p14="http://schemas.microsoft.com/office/powerpoint/2010/main" val="527152554"/>
              </p:ext>
            </p:extLst>
          </p:nvPr>
        </p:nvGraphicFramePr>
        <p:xfrm>
          <a:off x="6693408" y="4096512"/>
          <a:ext cx="4355147" cy="2031746"/>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4912179" cy="538609"/>
          </a:xfrm>
          <a:prstGeom prst="rect">
            <a:avLst/>
          </a:prstGeom>
          <a:noFill/>
        </p:spPr>
        <p:txBody>
          <a:bodyPr wrap="none">
            <a:spAutoFit/>
          </a:bodyPr>
          <a:lstStyle/>
          <a:p>
            <a:pPr algn="l"/>
            <a:r>
              <a:rPr lang="en-US" sz="2900" b="1" dirty="0">
                <a:solidFill>
                  <a:srgbClr val="FFFFFF"/>
                </a:solidFill>
                <a:latin typeface="Aptos"/>
              </a:rPr>
              <a:t>12</a:t>
            </a:r>
            <a:r>
              <a:rPr sz="2900" b="1" dirty="0">
                <a:solidFill>
                  <a:srgbClr val="FFFFFF"/>
                </a:solidFill>
                <a:latin typeface="Aptos"/>
              </a:rPr>
              <a:t>  |  Challenges &amp; Solutions</a:t>
            </a:r>
          </a:p>
        </p:txBody>
      </p:sp>
      <p:sp>
        <p:nvSpPr>
          <p:cNvPr id="5" name="Rounded Rectangle 4"/>
          <p:cNvSpPr/>
          <p:nvPr/>
        </p:nvSpPr>
        <p:spPr>
          <a:xfrm>
            <a:off x="685800" y="1325880"/>
            <a:ext cx="5166360" cy="123444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490472"/>
            <a:ext cx="4764024" cy="292608"/>
          </a:xfrm>
          <a:prstGeom prst="rect">
            <a:avLst/>
          </a:prstGeom>
          <a:noFill/>
        </p:spPr>
        <p:txBody>
          <a:bodyPr wrap="none">
            <a:spAutoFit/>
          </a:bodyPr>
          <a:lstStyle/>
          <a:p>
            <a:pPr algn="l"/>
            <a:r>
              <a:rPr sz="1400" b="1">
                <a:solidFill>
                  <a:srgbClr val="0D1C30"/>
                </a:solidFill>
                <a:latin typeface="Aptos"/>
              </a:rPr>
              <a:t>COMBINING SALES TABLES</a:t>
            </a:r>
          </a:p>
        </p:txBody>
      </p:sp>
      <p:sp>
        <p:nvSpPr>
          <p:cNvPr id="7" name="TextBox 6"/>
          <p:cNvSpPr txBox="1"/>
          <p:nvPr/>
        </p:nvSpPr>
        <p:spPr>
          <a:xfrm>
            <a:off x="886968" y="1892807"/>
            <a:ext cx="4764024" cy="548640"/>
          </a:xfrm>
          <a:prstGeom prst="rect">
            <a:avLst/>
          </a:prstGeom>
          <a:noFill/>
        </p:spPr>
        <p:txBody>
          <a:bodyPr wrap="none">
            <a:spAutoFit/>
          </a:bodyPr>
          <a:lstStyle/>
          <a:p>
            <a:pPr algn="l"/>
            <a:r>
              <a:rPr sz="1200" b="0">
                <a:solidFill>
                  <a:srgbClr val="5F6973"/>
                </a:solidFill>
                <a:latin typeface="Aptos"/>
              </a:rPr>
              <a:t>Used Append / Union to combine compatible sales datasets.</a:t>
            </a:r>
          </a:p>
        </p:txBody>
      </p:sp>
      <p:sp>
        <p:nvSpPr>
          <p:cNvPr id="8" name="Rounded Rectangle 7"/>
          <p:cNvSpPr/>
          <p:nvPr/>
        </p:nvSpPr>
        <p:spPr>
          <a:xfrm>
            <a:off x="6263640" y="1325880"/>
            <a:ext cx="5166360" cy="123444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64807" y="1490472"/>
            <a:ext cx="4764024" cy="292608"/>
          </a:xfrm>
          <a:prstGeom prst="rect">
            <a:avLst/>
          </a:prstGeom>
          <a:noFill/>
        </p:spPr>
        <p:txBody>
          <a:bodyPr wrap="none">
            <a:spAutoFit/>
          </a:bodyPr>
          <a:lstStyle/>
          <a:p>
            <a:pPr algn="l"/>
            <a:r>
              <a:rPr sz="1400" b="1">
                <a:solidFill>
                  <a:srgbClr val="0D1C30"/>
                </a:solidFill>
                <a:latin typeface="Aptos"/>
              </a:rPr>
              <a:t>TABLE RELATIONSHIPS</a:t>
            </a:r>
          </a:p>
        </p:txBody>
      </p:sp>
      <p:sp>
        <p:nvSpPr>
          <p:cNvPr id="10" name="TextBox 9"/>
          <p:cNvSpPr txBox="1"/>
          <p:nvPr/>
        </p:nvSpPr>
        <p:spPr>
          <a:xfrm>
            <a:off x="6464807" y="1892807"/>
            <a:ext cx="4764024" cy="548640"/>
          </a:xfrm>
          <a:prstGeom prst="rect">
            <a:avLst/>
          </a:prstGeom>
          <a:noFill/>
        </p:spPr>
        <p:txBody>
          <a:bodyPr wrap="none">
            <a:spAutoFit/>
          </a:bodyPr>
          <a:lstStyle/>
          <a:p>
            <a:pPr algn="l"/>
            <a:r>
              <a:rPr sz="1200" b="0">
                <a:solidFill>
                  <a:srgbClr val="5F6973"/>
                </a:solidFill>
                <a:latin typeface="Aptos"/>
              </a:rPr>
              <a:t>Connected tables using matching keys and data types.</a:t>
            </a:r>
          </a:p>
        </p:txBody>
      </p:sp>
      <p:sp>
        <p:nvSpPr>
          <p:cNvPr id="11" name="Rounded Rectangle 10"/>
          <p:cNvSpPr/>
          <p:nvPr/>
        </p:nvSpPr>
        <p:spPr>
          <a:xfrm>
            <a:off x="685800" y="2880360"/>
            <a:ext cx="5166360" cy="123444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3044952"/>
            <a:ext cx="4764024" cy="292608"/>
          </a:xfrm>
          <a:prstGeom prst="rect">
            <a:avLst/>
          </a:prstGeom>
          <a:noFill/>
        </p:spPr>
        <p:txBody>
          <a:bodyPr wrap="none">
            <a:spAutoFit/>
          </a:bodyPr>
          <a:lstStyle/>
          <a:p>
            <a:pPr algn="l"/>
            <a:r>
              <a:rPr sz="1400" b="1">
                <a:solidFill>
                  <a:srgbClr val="0D1C30"/>
                </a:solidFill>
                <a:latin typeface="Aptos"/>
              </a:rPr>
              <a:t>DISTINCT CUSTOMER COUNT</a:t>
            </a:r>
          </a:p>
        </p:txBody>
      </p:sp>
      <p:sp>
        <p:nvSpPr>
          <p:cNvPr id="13" name="TextBox 12"/>
          <p:cNvSpPr txBox="1"/>
          <p:nvPr/>
        </p:nvSpPr>
        <p:spPr>
          <a:xfrm>
            <a:off x="886968" y="3447288"/>
            <a:ext cx="4764024" cy="548640"/>
          </a:xfrm>
          <a:prstGeom prst="rect">
            <a:avLst/>
          </a:prstGeom>
          <a:noFill/>
        </p:spPr>
        <p:txBody>
          <a:bodyPr wrap="none">
            <a:spAutoFit/>
          </a:bodyPr>
          <a:lstStyle/>
          <a:p>
            <a:pPr algn="l"/>
            <a:r>
              <a:rPr sz="1200" b="0">
                <a:solidFill>
                  <a:srgbClr val="5F6973"/>
                </a:solidFill>
                <a:latin typeface="Aptos"/>
              </a:rPr>
              <a:t>Used Data Model / Distinct Count to avoid duplicate customers.</a:t>
            </a:r>
          </a:p>
        </p:txBody>
      </p:sp>
      <p:sp>
        <p:nvSpPr>
          <p:cNvPr id="14" name="Rounded Rectangle 13"/>
          <p:cNvSpPr/>
          <p:nvPr/>
        </p:nvSpPr>
        <p:spPr>
          <a:xfrm>
            <a:off x="6263640" y="2880360"/>
            <a:ext cx="5166360" cy="123444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64807" y="3044952"/>
            <a:ext cx="4764024" cy="292608"/>
          </a:xfrm>
          <a:prstGeom prst="rect">
            <a:avLst/>
          </a:prstGeom>
          <a:noFill/>
        </p:spPr>
        <p:txBody>
          <a:bodyPr wrap="none">
            <a:spAutoFit/>
          </a:bodyPr>
          <a:lstStyle/>
          <a:p>
            <a:pPr algn="l"/>
            <a:r>
              <a:rPr sz="1400" b="1">
                <a:solidFill>
                  <a:srgbClr val="0D1C30"/>
                </a:solidFill>
                <a:latin typeface="Aptos"/>
              </a:rPr>
              <a:t>FINANCIAL CALENDAR</a:t>
            </a:r>
          </a:p>
        </p:txBody>
      </p:sp>
      <p:sp>
        <p:nvSpPr>
          <p:cNvPr id="16" name="TextBox 15"/>
          <p:cNvSpPr txBox="1"/>
          <p:nvPr/>
        </p:nvSpPr>
        <p:spPr>
          <a:xfrm>
            <a:off x="6464807" y="3447288"/>
            <a:ext cx="4764024" cy="548640"/>
          </a:xfrm>
          <a:prstGeom prst="rect">
            <a:avLst/>
          </a:prstGeom>
          <a:noFill/>
        </p:spPr>
        <p:txBody>
          <a:bodyPr wrap="none">
            <a:spAutoFit/>
          </a:bodyPr>
          <a:lstStyle/>
          <a:p>
            <a:pPr algn="l"/>
            <a:r>
              <a:rPr sz="1200" b="0">
                <a:solidFill>
                  <a:srgbClr val="5F6973"/>
                </a:solidFill>
                <a:latin typeface="Aptos"/>
              </a:rPr>
              <a:t>Created Financial Month and Quarter logic.</a:t>
            </a:r>
          </a:p>
        </p:txBody>
      </p:sp>
      <p:sp>
        <p:nvSpPr>
          <p:cNvPr id="17" name="Rounded Rectangle 16"/>
          <p:cNvSpPr/>
          <p:nvPr/>
        </p:nvSpPr>
        <p:spPr>
          <a:xfrm>
            <a:off x="685800" y="4434840"/>
            <a:ext cx="5166360" cy="123444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4599431"/>
            <a:ext cx="4764024" cy="292608"/>
          </a:xfrm>
          <a:prstGeom prst="rect">
            <a:avLst/>
          </a:prstGeom>
          <a:noFill/>
        </p:spPr>
        <p:txBody>
          <a:bodyPr wrap="none">
            <a:spAutoFit/>
          </a:bodyPr>
          <a:lstStyle/>
          <a:p>
            <a:pPr algn="l"/>
            <a:r>
              <a:rPr sz="1400" b="1">
                <a:solidFill>
                  <a:srgbClr val="0D1C30"/>
                </a:solidFill>
                <a:latin typeface="Aptos"/>
              </a:rPr>
              <a:t>KPI &amp; CHART FORMATTING</a:t>
            </a:r>
          </a:p>
        </p:txBody>
      </p:sp>
      <p:sp>
        <p:nvSpPr>
          <p:cNvPr id="19" name="TextBox 18"/>
          <p:cNvSpPr txBox="1"/>
          <p:nvPr/>
        </p:nvSpPr>
        <p:spPr>
          <a:xfrm>
            <a:off x="886968" y="5001768"/>
            <a:ext cx="4764024" cy="548640"/>
          </a:xfrm>
          <a:prstGeom prst="rect">
            <a:avLst/>
          </a:prstGeom>
          <a:noFill/>
        </p:spPr>
        <p:txBody>
          <a:bodyPr wrap="none">
            <a:spAutoFit/>
          </a:bodyPr>
          <a:lstStyle/>
          <a:p>
            <a:pPr algn="l"/>
            <a:r>
              <a:rPr sz="1200" b="0">
                <a:solidFill>
                  <a:srgbClr val="5F6973"/>
                </a:solidFill>
                <a:latin typeface="Aptos"/>
              </a:rPr>
              <a:t>Applied K/M formats and consistent dashboard design.</a:t>
            </a:r>
          </a:p>
        </p:txBody>
      </p:sp>
      <p:sp>
        <p:nvSpPr>
          <p:cNvPr id="20" name="Rounded Rectangle 19"/>
          <p:cNvSpPr/>
          <p:nvPr/>
        </p:nvSpPr>
        <p:spPr>
          <a:xfrm>
            <a:off x="6263640" y="4434840"/>
            <a:ext cx="5166360" cy="1234440"/>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64807" y="4599431"/>
            <a:ext cx="4764024" cy="292608"/>
          </a:xfrm>
          <a:prstGeom prst="rect">
            <a:avLst/>
          </a:prstGeom>
          <a:noFill/>
        </p:spPr>
        <p:txBody>
          <a:bodyPr wrap="none">
            <a:spAutoFit/>
          </a:bodyPr>
          <a:lstStyle/>
          <a:p>
            <a:pPr algn="l"/>
            <a:r>
              <a:rPr sz="1400" b="1">
                <a:solidFill>
                  <a:srgbClr val="0D1C30"/>
                </a:solidFill>
                <a:latin typeface="Aptos"/>
              </a:rPr>
              <a:t>SLICER CONNECTIVITY</a:t>
            </a:r>
          </a:p>
        </p:txBody>
      </p:sp>
      <p:sp>
        <p:nvSpPr>
          <p:cNvPr id="22" name="TextBox 21"/>
          <p:cNvSpPr txBox="1"/>
          <p:nvPr/>
        </p:nvSpPr>
        <p:spPr>
          <a:xfrm>
            <a:off x="6464807" y="5001768"/>
            <a:ext cx="4764024" cy="548640"/>
          </a:xfrm>
          <a:prstGeom prst="rect">
            <a:avLst/>
          </a:prstGeom>
          <a:noFill/>
        </p:spPr>
        <p:txBody>
          <a:bodyPr wrap="none">
            <a:spAutoFit/>
          </a:bodyPr>
          <a:lstStyle/>
          <a:p>
            <a:pPr algn="l"/>
            <a:r>
              <a:rPr sz="1200" b="0">
                <a:solidFill>
                  <a:srgbClr val="5F6973"/>
                </a:solidFill>
                <a:latin typeface="Aptos"/>
              </a:rPr>
              <a:t>Connected visuals/Pivots and validated filter behavior.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4112729" cy="538609"/>
          </a:xfrm>
          <a:prstGeom prst="rect">
            <a:avLst/>
          </a:prstGeom>
          <a:noFill/>
        </p:spPr>
        <p:txBody>
          <a:bodyPr wrap="none">
            <a:spAutoFit/>
          </a:bodyPr>
          <a:lstStyle/>
          <a:p>
            <a:pPr algn="l"/>
            <a:r>
              <a:rPr sz="2900" b="1" dirty="0">
                <a:solidFill>
                  <a:srgbClr val="FFFFFF"/>
                </a:solidFill>
                <a:latin typeface="Aptos"/>
              </a:rPr>
              <a:t>1</a:t>
            </a:r>
            <a:r>
              <a:rPr lang="en-US" sz="2900" b="1" dirty="0">
                <a:solidFill>
                  <a:srgbClr val="FFFFFF"/>
                </a:solidFill>
                <a:latin typeface="Aptos"/>
              </a:rPr>
              <a:t>3</a:t>
            </a:r>
            <a:r>
              <a:rPr sz="2900" b="1" dirty="0">
                <a:solidFill>
                  <a:srgbClr val="FFFFFF"/>
                </a:solidFill>
                <a:latin typeface="Aptos"/>
              </a:rPr>
              <a:t>  |  Team Contribution</a:t>
            </a:r>
          </a:p>
        </p:txBody>
      </p:sp>
      <p:sp>
        <p:nvSpPr>
          <p:cNvPr id="5" name="TextBox 4"/>
          <p:cNvSpPr txBox="1"/>
          <p:nvPr/>
        </p:nvSpPr>
        <p:spPr>
          <a:xfrm>
            <a:off x="914400" y="1371600"/>
            <a:ext cx="2743200" cy="274320"/>
          </a:xfrm>
          <a:prstGeom prst="rect">
            <a:avLst/>
          </a:prstGeom>
          <a:noFill/>
        </p:spPr>
        <p:txBody>
          <a:bodyPr wrap="none">
            <a:spAutoFit/>
          </a:bodyPr>
          <a:lstStyle/>
          <a:p>
            <a:pPr algn="l"/>
            <a:r>
              <a:rPr sz="1400" b="1">
                <a:solidFill>
                  <a:srgbClr val="96BEE1"/>
                </a:solidFill>
                <a:latin typeface="Aptos"/>
              </a:rPr>
              <a:t>MODULE</a:t>
            </a:r>
          </a:p>
        </p:txBody>
      </p:sp>
      <p:sp>
        <p:nvSpPr>
          <p:cNvPr id="6" name="TextBox 5"/>
          <p:cNvSpPr txBox="1"/>
          <p:nvPr/>
        </p:nvSpPr>
        <p:spPr>
          <a:xfrm>
            <a:off x="4754880" y="1371600"/>
            <a:ext cx="4572000" cy="274320"/>
          </a:xfrm>
          <a:prstGeom prst="rect">
            <a:avLst/>
          </a:prstGeom>
          <a:noFill/>
        </p:spPr>
        <p:txBody>
          <a:bodyPr wrap="none">
            <a:spAutoFit/>
          </a:bodyPr>
          <a:lstStyle/>
          <a:p>
            <a:pPr algn="l"/>
            <a:r>
              <a:rPr sz="1400" b="1">
                <a:solidFill>
                  <a:srgbClr val="96BEE1"/>
                </a:solidFill>
                <a:latin typeface="Aptos"/>
              </a:rPr>
              <a:t>RESPONSIBILITY</a:t>
            </a:r>
          </a:p>
        </p:txBody>
      </p:sp>
      <p:sp>
        <p:nvSpPr>
          <p:cNvPr id="7" name="TextBox 6"/>
          <p:cNvSpPr txBox="1"/>
          <p:nvPr/>
        </p:nvSpPr>
        <p:spPr>
          <a:xfrm>
            <a:off x="914400" y="1783080"/>
            <a:ext cx="3474720" cy="320040"/>
          </a:xfrm>
          <a:prstGeom prst="rect">
            <a:avLst/>
          </a:prstGeom>
          <a:noFill/>
        </p:spPr>
        <p:txBody>
          <a:bodyPr wrap="none">
            <a:spAutoFit/>
          </a:bodyPr>
          <a:lstStyle/>
          <a:p>
            <a:pPr algn="l"/>
            <a:r>
              <a:rPr sz="1500" b="1">
                <a:solidFill>
                  <a:srgbClr val="FFFFFF"/>
                </a:solidFill>
                <a:latin typeface="Aptos"/>
              </a:rPr>
              <a:t>Data Preparation</a:t>
            </a:r>
          </a:p>
        </p:txBody>
      </p:sp>
      <p:sp>
        <p:nvSpPr>
          <p:cNvPr id="8" name="TextBox 7"/>
          <p:cNvSpPr txBox="1"/>
          <p:nvPr/>
        </p:nvSpPr>
        <p:spPr>
          <a:xfrm>
            <a:off x="4754880" y="1783080"/>
            <a:ext cx="6400800" cy="320040"/>
          </a:xfrm>
          <a:prstGeom prst="rect">
            <a:avLst/>
          </a:prstGeom>
          <a:noFill/>
        </p:spPr>
        <p:txBody>
          <a:bodyPr wrap="none">
            <a:spAutoFit/>
          </a:bodyPr>
          <a:lstStyle/>
          <a:p>
            <a:pPr algn="l"/>
            <a:r>
              <a:rPr sz="1500" b="0">
                <a:solidFill>
                  <a:srgbClr val="D2DCE6"/>
                </a:solidFill>
                <a:latin typeface="Aptos"/>
              </a:rPr>
              <a:t>Power Query, cleaning, append / merge</a:t>
            </a:r>
          </a:p>
        </p:txBody>
      </p:sp>
      <p:sp>
        <p:nvSpPr>
          <p:cNvPr id="9" name="TextBox 8"/>
          <p:cNvSpPr txBox="1"/>
          <p:nvPr/>
        </p:nvSpPr>
        <p:spPr>
          <a:xfrm>
            <a:off x="914400" y="2377440"/>
            <a:ext cx="3474720" cy="320040"/>
          </a:xfrm>
          <a:prstGeom prst="rect">
            <a:avLst/>
          </a:prstGeom>
          <a:noFill/>
        </p:spPr>
        <p:txBody>
          <a:bodyPr wrap="none">
            <a:spAutoFit/>
          </a:bodyPr>
          <a:lstStyle/>
          <a:p>
            <a:pPr algn="l"/>
            <a:r>
              <a:rPr sz="1500" b="1">
                <a:solidFill>
                  <a:srgbClr val="FFFFFF"/>
                </a:solidFill>
                <a:latin typeface="Aptos"/>
              </a:rPr>
              <a:t>Data Modeling</a:t>
            </a:r>
          </a:p>
        </p:txBody>
      </p:sp>
      <p:sp>
        <p:nvSpPr>
          <p:cNvPr id="10" name="TextBox 9"/>
          <p:cNvSpPr txBox="1"/>
          <p:nvPr/>
        </p:nvSpPr>
        <p:spPr>
          <a:xfrm>
            <a:off x="4754880" y="2377440"/>
            <a:ext cx="6400800" cy="320040"/>
          </a:xfrm>
          <a:prstGeom prst="rect">
            <a:avLst/>
          </a:prstGeom>
          <a:noFill/>
        </p:spPr>
        <p:txBody>
          <a:bodyPr wrap="none">
            <a:spAutoFit/>
          </a:bodyPr>
          <a:lstStyle/>
          <a:p>
            <a:pPr algn="l"/>
            <a:r>
              <a:rPr sz="1500" b="0">
                <a:solidFill>
                  <a:srgbClr val="D2DCE6"/>
                </a:solidFill>
                <a:latin typeface="Aptos"/>
              </a:rPr>
              <a:t>Relationships and calculated fields</a:t>
            </a:r>
          </a:p>
        </p:txBody>
      </p:sp>
      <p:sp>
        <p:nvSpPr>
          <p:cNvPr id="11" name="TextBox 10"/>
          <p:cNvSpPr txBox="1"/>
          <p:nvPr/>
        </p:nvSpPr>
        <p:spPr>
          <a:xfrm>
            <a:off x="914400" y="2971800"/>
            <a:ext cx="3474720" cy="320040"/>
          </a:xfrm>
          <a:prstGeom prst="rect">
            <a:avLst/>
          </a:prstGeom>
          <a:noFill/>
        </p:spPr>
        <p:txBody>
          <a:bodyPr wrap="none">
            <a:spAutoFit/>
          </a:bodyPr>
          <a:lstStyle/>
          <a:p>
            <a:pPr algn="l"/>
            <a:r>
              <a:rPr sz="1500" b="1">
                <a:solidFill>
                  <a:srgbClr val="FFFFFF"/>
                </a:solidFill>
                <a:latin typeface="Aptos"/>
              </a:rPr>
              <a:t>Excel</a:t>
            </a:r>
          </a:p>
        </p:txBody>
      </p:sp>
      <p:sp>
        <p:nvSpPr>
          <p:cNvPr id="12" name="TextBox 11"/>
          <p:cNvSpPr txBox="1"/>
          <p:nvPr/>
        </p:nvSpPr>
        <p:spPr>
          <a:xfrm>
            <a:off x="4754880" y="2971800"/>
            <a:ext cx="6400800" cy="320040"/>
          </a:xfrm>
          <a:prstGeom prst="rect">
            <a:avLst/>
          </a:prstGeom>
          <a:noFill/>
        </p:spPr>
        <p:txBody>
          <a:bodyPr wrap="none">
            <a:spAutoFit/>
          </a:bodyPr>
          <a:lstStyle/>
          <a:p>
            <a:pPr algn="l"/>
            <a:r>
              <a:rPr sz="1500" b="0">
                <a:solidFill>
                  <a:srgbClr val="D2DCE6"/>
                </a:solidFill>
                <a:latin typeface="Aptos"/>
              </a:rPr>
              <a:t>Pivot tables, KPIs, charts and dashboard</a:t>
            </a:r>
          </a:p>
        </p:txBody>
      </p:sp>
      <p:sp>
        <p:nvSpPr>
          <p:cNvPr id="13" name="TextBox 12"/>
          <p:cNvSpPr txBox="1"/>
          <p:nvPr/>
        </p:nvSpPr>
        <p:spPr>
          <a:xfrm>
            <a:off x="914400" y="3566160"/>
            <a:ext cx="3474720" cy="320040"/>
          </a:xfrm>
          <a:prstGeom prst="rect">
            <a:avLst/>
          </a:prstGeom>
          <a:noFill/>
        </p:spPr>
        <p:txBody>
          <a:bodyPr wrap="none">
            <a:spAutoFit/>
          </a:bodyPr>
          <a:lstStyle/>
          <a:p>
            <a:pPr algn="l"/>
            <a:r>
              <a:rPr sz="1500" b="1">
                <a:solidFill>
                  <a:srgbClr val="FFFFFF"/>
                </a:solidFill>
                <a:latin typeface="Aptos"/>
              </a:rPr>
              <a:t>Power BI</a:t>
            </a:r>
          </a:p>
        </p:txBody>
      </p:sp>
      <p:sp>
        <p:nvSpPr>
          <p:cNvPr id="14" name="TextBox 13"/>
          <p:cNvSpPr txBox="1"/>
          <p:nvPr/>
        </p:nvSpPr>
        <p:spPr>
          <a:xfrm>
            <a:off x="4754880" y="3566160"/>
            <a:ext cx="6400800" cy="320040"/>
          </a:xfrm>
          <a:prstGeom prst="rect">
            <a:avLst/>
          </a:prstGeom>
          <a:noFill/>
        </p:spPr>
        <p:txBody>
          <a:bodyPr wrap="none">
            <a:spAutoFit/>
          </a:bodyPr>
          <a:lstStyle/>
          <a:p>
            <a:pPr algn="l"/>
            <a:r>
              <a:rPr sz="1500" b="0">
                <a:solidFill>
                  <a:srgbClr val="D2DCE6"/>
                </a:solidFill>
                <a:latin typeface="Aptos"/>
              </a:rPr>
              <a:t>Interactive report and visual analytics</a:t>
            </a:r>
          </a:p>
        </p:txBody>
      </p:sp>
      <p:sp>
        <p:nvSpPr>
          <p:cNvPr id="15" name="TextBox 14"/>
          <p:cNvSpPr txBox="1"/>
          <p:nvPr/>
        </p:nvSpPr>
        <p:spPr>
          <a:xfrm>
            <a:off x="914400" y="4160520"/>
            <a:ext cx="3474720" cy="320040"/>
          </a:xfrm>
          <a:prstGeom prst="rect">
            <a:avLst/>
          </a:prstGeom>
          <a:noFill/>
        </p:spPr>
        <p:txBody>
          <a:bodyPr wrap="none">
            <a:spAutoFit/>
          </a:bodyPr>
          <a:lstStyle/>
          <a:p>
            <a:pPr algn="l"/>
            <a:r>
              <a:rPr sz="1500" b="1">
                <a:solidFill>
                  <a:srgbClr val="FFFFFF"/>
                </a:solidFill>
                <a:latin typeface="Aptos"/>
              </a:rPr>
              <a:t>Tableau</a:t>
            </a:r>
          </a:p>
        </p:txBody>
      </p:sp>
      <p:sp>
        <p:nvSpPr>
          <p:cNvPr id="16" name="TextBox 15"/>
          <p:cNvSpPr txBox="1"/>
          <p:nvPr/>
        </p:nvSpPr>
        <p:spPr>
          <a:xfrm>
            <a:off x="4754880" y="4160520"/>
            <a:ext cx="6400800" cy="320040"/>
          </a:xfrm>
          <a:prstGeom prst="rect">
            <a:avLst/>
          </a:prstGeom>
          <a:noFill/>
        </p:spPr>
        <p:txBody>
          <a:bodyPr wrap="none">
            <a:spAutoFit/>
          </a:bodyPr>
          <a:lstStyle/>
          <a:p>
            <a:pPr algn="l"/>
            <a:r>
              <a:rPr sz="1500" b="0">
                <a:solidFill>
                  <a:srgbClr val="D2DCE6"/>
                </a:solidFill>
                <a:latin typeface="Aptos"/>
              </a:rPr>
              <a:t>Visual exploration and dashboard</a:t>
            </a:r>
          </a:p>
        </p:txBody>
      </p:sp>
      <p:sp>
        <p:nvSpPr>
          <p:cNvPr id="17" name="TextBox 16"/>
          <p:cNvSpPr txBox="1"/>
          <p:nvPr/>
        </p:nvSpPr>
        <p:spPr>
          <a:xfrm>
            <a:off x="914400" y="4754880"/>
            <a:ext cx="3474720" cy="320040"/>
          </a:xfrm>
          <a:prstGeom prst="rect">
            <a:avLst/>
          </a:prstGeom>
          <a:noFill/>
        </p:spPr>
        <p:txBody>
          <a:bodyPr wrap="none">
            <a:spAutoFit/>
          </a:bodyPr>
          <a:lstStyle/>
          <a:p>
            <a:pPr algn="l"/>
            <a:r>
              <a:rPr sz="1500" b="1">
                <a:solidFill>
                  <a:srgbClr val="FFFFFF"/>
                </a:solidFill>
                <a:latin typeface="Aptos"/>
              </a:rPr>
              <a:t>Presentation</a:t>
            </a:r>
          </a:p>
        </p:txBody>
      </p:sp>
      <p:sp>
        <p:nvSpPr>
          <p:cNvPr id="18" name="TextBox 17"/>
          <p:cNvSpPr txBox="1"/>
          <p:nvPr/>
        </p:nvSpPr>
        <p:spPr>
          <a:xfrm>
            <a:off x="4754880" y="4754880"/>
            <a:ext cx="6400800" cy="320040"/>
          </a:xfrm>
          <a:prstGeom prst="rect">
            <a:avLst/>
          </a:prstGeom>
          <a:noFill/>
        </p:spPr>
        <p:txBody>
          <a:bodyPr wrap="none">
            <a:spAutoFit/>
          </a:bodyPr>
          <a:lstStyle/>
          <a:p>
            <a:pPr algn="l"/>
            <a:r>
              <a:rPr sz="1500" b="0">
                <a:solidFill>
                  <a:srgbClr val="D2DCE6"/>
                </a:solidFill>
                <a:latin typeface="Aptos"/>
              </a:rPr>
              <a:t>Insights, documentation and final story</a:t>
            </a:r>
          </a:p>
        </p:txBody>
      </p:sp>
      <p:sp>
        <p:nvSpPr>
          <p:cNvPr id="19" name="TextBox 18"/>
          <p:cNvSpPr txBox="1"/>
          <p:nvPr/>
        </p:nvSpPr>
        <p:spPr>
          <a:xfrm>
            <a:off x="914400" y="5806440"/>
            <a:ext cx="10515600" cy="365760"/>
          </a:xfrm>
          <a:prstGeom prst="rect">
            <a:avLst/>
          </a:prstGeom>
          <a:noFill/>
        </p:spPr>
        <p:txBody>
          <a:bodyPr wrap="none">
            <a:spAutoFit/>
          </a:bodyPr>
          <a:lstStyle/>
          <a:p>
            <a:pPr algn="l"/>
            <a:r>
              <a:rPr sz="1300" b="0">
                <a:solidFill>
                  <a:srgbClr val="BECDDC"/>
                </a:solidFill>
                <a:latin typeface="Aptos"/>
              </a:rPr>
              <a:t>My contribution: Data modeling • KPI creation • Dashboard development • Validation • Presentation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5084020" cy="538609"/>
          </a:xfrm>
          <a:prstGeom prst="rect">
            <a:avLst/>
          </a:prstGeom>
          <a:noFill/>
        </p:spPr>
        <p:txBody>
          <a:bodyPr wrap="none">
            <a:spAutoFit/>
          </a:bodyPr>
          <a:lstStyle/>
          <a:p>
            <a:r>
              <a:rPr sz="2900" b="1" dirty="0">
                <a:solidFill>
                  <a:srgbClr val="FFFFFF"/>
                </a:solidFill>
                <a:latin typeface="Aptos"/>
              </a:rPr>
              <a:t>1</a:t>
            </a:r>
            <a:r>
              <a:rPr lang="en-US" sz="2900" b="1" dirty="0">
                <a:solidFill>
                  <a:srgbClr val="FFFFFF"/>
                </a:solidFill>
                <a:latin typeface="Aptos"/>
              </a:rPr>
              <a:t>4</a:t>
            </a:r>
            <a:r>
              <a:rPr sz="2900" b="1" dirty="0">
                <a:solidFill>
                  <a:srgbClr val="FFFFFF"/>
                </a:solidFill>
                <a:latin typeface="Aptos"/>
              </a:rPr>
              <a:t>  |</a:t>
            </a:r>
            <a:r>
              <a:rPr lang="en-US" sz="2900" b="1" dirty="0">
                <a:solidFill>
                  <a:srgbClr val="FFFFFF"/>
                </a:solidFill>
                <a:latin typeface="Aptos"/>
              </a:rPr>
              <a:t> Conclusion &amp; Next Steps</a:t>
            </a:r>
            <a:endParaRPr sz="2900" b="1" dirty="0">
              <a:solidFill>
                <a:srgbClr val="FFFFFF"/>
              </a:solidFill>
              <a:latin typeface="Aptos"/>
            </a:endParaRPr>
          </a:p>
        </p:txBody>
      </p:sp>
      <p:sp>
        <p:nvSpPr>
          <p:cNvPr id="4" name="TextBox 3"/>
          <p:cNvSpPr txBox="1"/>
          <p:nvPr/>
        </p:nvSpPr>
        <p:spPr>
          <a:xfrm>
            <a:off x="621792" y="914400"/>
            <a:ext cx="10972800" cy="320040"/>
          </a:xfrm>
          <a:prstGeom prst="rect">
            <a:avLst/>
          </a:prstGeom>
          <a:noFill/>
        </p:spPr>
        <p:txBody>
          <a:bodyPr wrap="none">
            <a:spAutoFit/>
          </a:bodyPr>
          <a:lstStyle/>
          <a:p>
            <a:pPr algn="l"/>
            <a:r>
              <a:rPr sz="1300" b="0">
                <a:solidFill>
                  <a:srgbClr val="BECDDC"/>
                </a:solidFill>
                <a:latin typeface="Aptos"/>
              </a:rPr>
              <a:t>From raw data to an end-to-end analytics solution</a:t>
            </a:r>
          </a:p>
        </p:txBody>
      </p:sp>
      <p:sp>
        <p:nvSpPr>
          <p:cNvPr id="5" name="Rounded Rectangle 4"/>
          <p:cNvSpPr/>
          <p:nvPr/>
        </p:nvSpPr>
        <p:spPr>
          <a:xfrm>
            <a:off x="685800" y="1508760"/>
            <a:ext cx="5273358" cy="2770632"/>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673351"/>
            <a:ext cx="4809744" cy="292608"/>
          </a:xfrm>
          <a:prstGeom prst="rect">
            <a:avLst/>
          </a:prstGeom>
          <a:noFill/>
        </p:spPr>
        <p:txBody>
          <a:bodyPr wrap="none">
            <a:spAutoFit/>
          </a:bodyPr>
          <a:lstStyle/>
          <a:p>
            <a:pPr algn="l"/>
            <a:r>
              <a:rPr sz="1400" b="1">
                <a:solidFill>
                  <a:srgbClr val="0D1C30"/>
                </a:solidFill>
                <a:latin typeface="Aptos"/>
              </a:rPr>
              <a:t>WHAT WE ACHIEVED</a:t>
            </a:r>
          </a:p>
        </p:txBody>
      </p:sp>
      <p:sp>
        <p:nvSpPr>
          <p:cNvPr id="7" name="TextBox 6"/>
          <p:cNvSpPr txBox="1"/>
          <p:nvPr/>
        </p:nvSpPr>
        <p:spPr>
          <a:xfrm>
            <a:off x="758952" y="2130552"/>
            <a:ext cx="5120640" cy="1477328"/>
          </a:xfrm>
          <a:prstGeom prst="rect">
            <a:avLst/>
          </a:prstGeom>
          <a:noFill/>
        </p:spPr>
        <p:txBody>
          <a:bodyPr wrap="square">
            <a:spAutoFit/>
          </a:bodyPr>
          <a:lstStyle/>
          <a:p>
            <a:pPr algn="l"/>
            <a:r>
              <a:rPr b="0" dirty="0">
                <a:latin typeface="Aptos"/>
              </a:rPr>
              <a:t>• Prepared and modeled the data</a:t>
            </a:r>
            <a:br>
              <a:rPr dirty="0"/>
            </a:br>
            <a:r>
              <a:rPr dirty="0"/>
              <a:t>• Built calculations and KPIs</a:t>
            </a:r>
            <a:br>
              <a:rPr dirty="0"/>
            </a:br>
            <a:r>
              <a:rPr dirty="0"/>
              <a:t>• Developed Excel, Power BI and Tableau dashboards</a:t>
            </a:r>
            <a:br>
              <a:rPr dirty="0"/>
            </a:br>
            <a:r>
              <a:rPr dirty="0"/>
              <a:t>• Created interactive analysis for products,</a:t>
            </a:r>
            <a:r>
              <a:rPr lang="en-US" dirty="0"/>
              <a:t>    </a:t>
            </a:r>
            <a:r>
              <a:rPr dirty="0"/>
              <a:t>customers and regions</a:t>
            </a:r>
          </a:p>
        </p:txBody>
      </p:sp>
      <p:sp>
        <p:nvSpPr>
          <p:cNvPr id="8" name="Rounded Rectangle 7"/>
          <p:cNvSpPr/>
          <p:nvPr/>
        </p:nvSpPr>
        <p:spPr>
          <a:xfrm>
            <a:off x="6263640" y="1508760"/>
            <a:ext cx="5273358" cy="2770632"/>
          </a:xfrm>
          <a:prstGeom prst="round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64807" y="1673351"/>
            <a:ext cx="4809744" cy="292608"/>
          </a:xfrm>
          <a:prstGeom prst="rect">
            <a:avLst/>
          </a:prstGeom>
          <a:noFill/>
        </p:spPr>
        <p:txBody>
          <a:bodyPr wrap="none">
            <a:spAutoFit/>
          </a:bodyPr>
          <a:lstStyle/>
          <a:p>
            <a:pPr algn="l"/>
            <a:r>
              <a:rPr sz="1400" b="1">
                <a:solidFill>
                  <a:srgbClr val="0D1C30"/>
                </a:solidFill>
                <a:latin typeface="Aptos"/>
              </a:rPr>
              <a:t>NEXT STEPS</a:t>
            </a:r>
          </a:p>
        </p:txBody>
      </p:sp>
      <p:sp>
        <p:nvSpPr>
          <p:cNvPr id="10" name="TextBox 9"/>
          <p:cNvSpPr txBox="1"/>
          <p:nvPr/>
        </p:nvSpPr>
        <p:spPr>
          <a:xfrm>
            <a:off x="6464807" y="2075688"/>
            <a:ext cx="3449406" cy="1477328"/>
          </a:xfrm>
          <a:prstGeom prst="rect">
            <a:avLst/>
          </a:prstGeom>
          <a:noFill/>
        </p:spPr>
        <p:txBody>
          <a:bodyPr wrap="none">
            <a:spAutoFit/>
          </a:bodyPr>
          <a:lstStyle/>
          <a:p>
            <a:pPr algn="l"/>
            <a:r>
              <a:rPr b="0" dirty="0">
                <a:latin typeface="Aptos"/>
              </a:rPr>
              <a:t>• Add for</a:t>
            </a:r>
            <a:r>
              <a:rPr lang="en-US" b="0" dirty="0">
                <a:latin typeface="Aptos"/>
              </a:rPr>
              <a:t>ecasting</a:t>
            </a:r>
            <a:br>
              <a:rPr dirty="0"/>
            </a:br>
            <a:r>
              <a:rPr dirty="0"/>
              <a:t>• Customer segmentation</a:t>
            </a:r>
            <a:br>
              <a:rPr dirty="0"/>
            </a:br>
            <a:r>
              <a:rPr dirty="0"/>
              <a:t>• Advanced profitability analysis</a:t>
            </a:r>
            <a:br>
              <a:rPr dirty="0"/>
            </a:br>
            <a:r>
              <a:rPr dirty="0"/>
              <a:t>• Automated refresh</a:t>
            </a:r>
            <a:br>
              <a:rPr dirty="0"/>
            </a:br>
            <a:r>
              <a:rPr dirty="0"/>
              <a:t>• Improve dashboard performance</a:t>
            </a:r>
          </a:p>
        </p:txBody>
      </p:sp>
      <p:sp>
        <p:nvSpPr>
          <p:cNvPr id="11" name="TextBox 10"/>
          <p:cNvSpPr txBox="1"/>
          <p:nvPr/>
        </p:nvSpPr>
        <p:spPr>
          <a:xfrm>
            <a:off x="685800" y="4709160"/>
            <a:ext cx="10789920" cy="640080"/>
          </a:xfrm>
          <a:prstGeom prst="rect">
            <a:avLst/>
          </a:prstGeom>
          <a:noFill/>
        </p:spPr>
        <p:txBody>
          <a:bodyPr wrap="none">
            <a:spAutoFit/>
          </a:bodyPr>
          <a:lstStyle/>
          <a:p>
            <a:pPr algn="ctr"/>
            <a:r>
              <a:rPr sz="3200" b="1">
                <a:solidFill>
                  <a:srgbClr val="FFFFFF"/>
                </a:solidFill>
                <a:latin typeface="Apto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464</TotalTime>
  <Words>1067</Words>
  <Application>Microsoft Office PowerPoint</Application>
  <PresentationFormat>Widescreen</PresentationFormat>
  <Paragraphs>205</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shraddha jagtap</cp:lastModifiedBy>
  <cp:revision>4</cp:revision>
  <dcterms:created xsi:type="dcterms:W3CDTF">2013-01-27T09:14:16Z</dcterms:created>
  <dcterms:modified xsi:type="dcterms:W3CDTF">2026-08-18T18:07:56Z</dcterms:modified>
  <cp:category/>
</cp:coreProperties>
</file>